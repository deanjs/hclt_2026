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00 · 전체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코드 생성 모델은 왜 표기 규약을 어기는가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네 모델에 대한 인과 분석 — 통일 재실험 · 시드 42 · 함수 이름 504개 · 분석 조건 7,378개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00 · 전체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7493000" cy="215900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7137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한 문장으로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59000"/>
            <a:ext cx="71374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6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모델은 지침을 안 본 것이 아니다.</a:t>
            </a:r>
          </a:p>
          <a:p>
            <a:pPr algn="l">
              <a:lnSpc>
                <a:spcPct val="132000"/>
              </a:lnSpc>
            </a:pPr>
            <a:r>
              <a:rPr sz="26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문맥에서 잘못된 표기 “내용”이 실려 와 지침을 덮는다.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3390900"/>
            <a:ext cx="7137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그래서 손잡이는 어텐션이 아니라 Value에 달려 있다. 그 층의 값을 밀면 실제 준수율이 0 → 0.81~1.00으로 되살아나고(4모델 중 3), 어텐션 비중을 100배 키워도 준수율은 0.000에 머문다(4모델 중 3 — Llama만 0.190).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400" y="1752600"/>
            <a:ext cx="3276600" cy="215900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30400"/>
            <a:ext cx="2921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규모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0900"/>
            <a:ext cx="2921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13660"/>
            <a:ext cx="2921000" cy="20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05100"/>
            <a:ext cx="2921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197860"/>
            <a:ext cx="2921000" cy="20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함수 이름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289300"/>
            <a:ext cx="2921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spc="-10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7,378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782060"/>
            <a:ext cx="2921000" cy="208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분석 조건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000" y="4064000"/>
            <a:ext cx="10922000" cy="2190750"/>
          </a:xfrm>
          <a:prstGeom prst="roundRect">
            <a:avLst>
              <a:gd name="adj" fmla="val 347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2800" y="4241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원인에서 결과까지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4495800"/>
            <a:ext cx="137822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1026" y="4495800"/>
            <a:ext cx="666142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일어나나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2452" y="4495800"/>
            <a:ext cx="252674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숫자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6482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74980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① 문맥 오염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1026" y="474980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선행 코드에 규약 위반이 5개 이상 섞인다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2452" y="474980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12개 중 5개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495681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02031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② 신호 전달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1026" y="502031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예시의 Value가 후반 특정 층에서 실려 온다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2452" y="502031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깊이 56~71%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522732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529082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③ 지침 덮임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1026" y="529082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지침이 요구한 표기가 밀려난다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2452" y="529082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준수율 0.000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549783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800" y="556133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④ 처방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1026" y="556133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층 Value를 반대로 밀면 되살아난다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2452" y="556133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 → 1.000 (3모델)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800" y="576834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800" y="5831840"/>
            <a:ext cx="12131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⑤ 처방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1026" y="5831840"/>
            <a:ext cx="6496326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어텐션 비중을 100배 키워도 준수율은 그대로다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2452" y="5831840"/>
            <a:ext cx="2361648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 (3모델)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00 · 전체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 덱을 읽는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실험을 한 순서가 아니라 논문에 실릴 순서로 놓았다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00 · 전체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스텝 · 연구 질문 · 논문 장의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112408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6885" y="2184400"/>
            <a:ext cx="224817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5055" y="2184400"/>
            <a:ext cx="44963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연구 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1396" y="2184400"/>
            <a:ext cx="134890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논문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0298" y="2184400"/>
            <a:ext cx="134890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이 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2438400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6885" y="2438400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준수율 절벽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5055" y="2438400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RQ1 — 문맥 위반이 준수율을 낮추나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1396" y="2438400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0298" y="2438400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04부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289832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2961821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6885" y="2961821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신호 관측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5055" y="2961821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RQ2 관측 — 어텐션에 신호가 있나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1396" y="2961821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5.1 · 5.3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298" y="2961821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05부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3421743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3485243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6885" y="3485243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신호 인과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5055" y="3485243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RQ2 인과 — Key인가 Value인가, 어느 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1396" y="3485243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298" y="3485243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06부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3945164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4008664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6885" y="4008664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관측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5055" y="4008664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RQ3 관측 — 지침을 얼마나 보나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1396" y="4008664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298" y="4008664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07부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800" y="4468586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800" y="4532086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6885" y="4532086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인과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85055" y="4532086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RQ3 인과 — 지침도 같은 통로인가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1396" y="4532086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298" y="4532086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07부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4992007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2800" y="5055507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diag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6885" y="5055507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장치 검사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85055" y="5055507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 우리 결론이 방법의 산물인가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1396" y="5055507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30298" y="5055507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08부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2800" y="5515429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2800" y="5578929"/>
            <a:ext cx="958985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36885" y="5578929"/>
            <a:ext cx="208307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처방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85055" y="5578929"/>
            <a:ext cx="4331240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 발견대로 밀면 되살아나나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1396" y="5578929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30298" y="5578929"/>
            <a:ext cx="1183802" cy="523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09부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01 · 문제와 통념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현상 — 지침을 줘도 어긴다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system 프롬프트에 “camelCase로 써라”가 분명히 있는데도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01 · 문제와 통념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문제인가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스타일 일관성은 코드 리뷰 비용·정적 분석·자동화와 직결된다.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지침은 명확하다: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system 메시지 둘째 줄에 표기 규약이 한 문장으로 들어 있다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문맥이 더럽다: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앞서 보여준 예시 코드 12개 중 일부가 규약을 어기고 있다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모델이 문맥을 따른다: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새로 만드는 함수 이름이 지침이 아니라 주변 코드를 닮는다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완만한 하락이 아니다: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어느 지점에서 준수율이 정확히 0으로 떨어지고 회복하지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실제로 벌어지는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지침 = camelCase · 선행 코드 12개 중 위반 5개 이상 → 준수율 0.000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0" y="2120900"/>
            <a:ext cx="5029200" cy="3671665"/>
          </a:xfrm>
          <a:prstGeom prst="roundRect">
            <a:avLst>
              <a:gd name="adj" fmla="val 1037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64300" y="220980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[system]  In this project we generally 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300" y="238474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function names in camelCase.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300" y="255968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300" y="273462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[user]    def decodeNode(items):     ← 준수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300" y="290957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return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300" y="308451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def split_config(items):   ← 위반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300" y="325945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return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300" y="343439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...  (12개 중 위반 5개)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300" y="360934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300" y="3784283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Add one more function that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300" y="395922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removes duplicates.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300" y="4134167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300" y="430911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[모델]    def remove_duplicates(items):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300" y="4484053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└── 지침을 어겼다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01 · 문제와 통념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통념 — “지침을 덜 봐서 그렇다”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기존 처방은 전부 이 진단 위에 서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01 · 문제와 통념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기존 진단과 처방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진단: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모델의 주의(어텐션)가 지침에 충분히 가지 않아 지침이 묻힌다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처방 계열: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구간의 어텐션 비중을 강제로 끌어올린다 — Spotlight 등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반복·강조: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지침을 여러 번 넣거나 어조를 세게 하는 방법도 같은 진단에서 나온다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전제: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“보게만 하면 지킨다” — 보는 양이 곧 따르는 정도라는 가정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우리가 의심한 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본다고 따르는 것이 아니라면, 문제는 보는 양이 아니라 실려 오는 내용이다.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184400"/>
            <a:ext cx="5029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100" b="0" spc="-8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보는 양(어텐션)과</a:t>
            </a:r>
          </a:p>
          <a:p>
            <a:pPr algn="l">
              <a:lnSpc>
                <a:spcPct val="132000"/>
              </a:lnSpc>
            </a:pPr>
            <a:r>
              <a:rPr sz="2100" b="0" spc="-8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실려 오는 내용(Value)은 다르다.</a:t>
            </a:r>
          </a:p>
        </p:txBody>
      </p:sp>
      <p:pic>
        <p:nvPicPr>
          <p:cNvPr id="15" name="Picture 14" descr="eq_outpu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3009900"/>
            <a:ext cx="1726203" cy="317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0000" y="33655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o  다음 층으로 나가는 것   a  얼마나 보나   v  무엇이 실려 오나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3568700"/>
            <a:ext cx="5029200" cy="723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한 구간이 다음 층에 미치는 것은 「얼마나 보나(a)」와 「무엇을 실어 오나(v)」 두 요소로 정해진다. 통념과 기존 처방은 **a만** 건드린다. 문제가 v에 있다면 a를 아무리 키워도 소용이 없다.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4102100"/>
            <a:ext cx="5029200" cy="723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가정으로 두지 않는다. 캐시의 Key만 덮으면 a가, Value만 덮으면 v가 바뀐다 — 두 축을 따로 끊어 어느 쪽이 행동을 움직이는지 직접 잰다(step3·5). 그리고 어텐션을 키우는 처방(Spotlight)은 재구현해 같은 자로 견준다(step6).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01 · 문제와 통념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우리 반론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지침은 이미 충분히 읽힌다 — 문제는 무엇이 실려 오느냐다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01 · 문제와 통념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1587500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한 장으로 본 주장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1056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spc="-9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문제도 손잡이도 어텐션이 아니라 내용(Value)에, 후반 특정 층에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8829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 주장은 세 갈래로 나뉘어 검증된다. ① 문맥의 표기 신호가 Value 경로를 탄다(step3) ② 지침의 영향력도 같은 통로다(step5) ③ 그 층의 Value를 밀면 준수가 되살아나고, 어텐션을 키우면 안 된다(step6).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000" y="3492500"/>
            <a:ext cx="3539067" cy="2762250"/>
          </a:xfrm>
          <a:prstGeom prst="roundRect">
            <a:avLst>
              <a:gd name="adj" fmla="val 275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800" y="3670300"/>
            <a:ext cx="3183467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반박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860800"/>
            <a:ext cx="3183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2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어텐션을 키운다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4114800"/>
            <a:ext cx="3183467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구간의 어텐션 비중을 목표치까지 끌어올린다. 우리가 재구현해 같은 자로 견준다.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6467" y="3492500"/>
            <a:ext cx="3539067" cy="2762250"/>
          </a:xfrm>
          <a:prstGeom prst="roundRect">
            <a:avLst>
              <a:gd name="adj" fmla="val 275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4267" y="3670300"/>
            <a:ext cx="3183467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우리 처방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267" y="3860800"/>
            <a:ext cx="3183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2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값을 민다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4267" y="4114800"/>
            <a:ext cx="3183467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층 잔차에 camel−snake 방향을 더한다. 어텐션은 건드리지 않는다.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7933" y="3492500"/>
            <a:ext cx="3539067" cy="2762250"/>
          </a:xfrm>
          <a:prstGeom prst="roundRect">
            <a:avLst>
              <a:gd name="adj" fmla="val 275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95733" y="3670300"/>
            <a:ext cx="3183467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판정 기준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5733" y="3860800"/>
            <a:ext cx="318346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2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 이름으로 잰다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733" y="4114800"/>
            <a:ext cx="3183467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선호 점수만 보지 않는다. 조향을 건 채 진짜로 이름을 생성시켜 센다.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02 · 연구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연구 질문 — RQ1 · RQ2 · 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행동에서 출발해 내부로 들어가고, 다시 행동으로 나온다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02 · 연구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질문과 하위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10566400" cy="269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RQ1: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선행 코드의 지침 위반은 이후 생성의 지침 준수율을 낮추는가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위반 사례가 많을수록 준수율이 떨어지는가 · 완만한 하락인가 임계인가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RQ2: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 신호는 어텐션(Key)에 있는가 내용(Value)에 있는가 · 어느 층인가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모델이 규칙과 코드 중 어디를 참조하는가 · 코드의 내용인가 표층 형태인가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코드의 내부 상태(KV)를 직접 바꾸면 지침 준수 행동도 바뀌는가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RQ3: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지침의 영향력도 같은 통로(Value)인가 — RQ2의 Key/Value 분해를 지침에 적용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코드 쪽이 Value였는데, 기존 연구는 지침에 어텐션(Key)을 더 준다</a:t>
            </a:r>
          </a:p>
          <a:p>
            <a:pPr marL="173355" indent="-17335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· 지침을 반복·강조하는 대신 보이는 코드를 지침과 일치시키는 것이 낫지 않은가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처방: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RQ1~3의 답대로 밀면 준수가 되살아나는가 — RQ가 아니라 예측의 검증이다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자극 — 함수 이름 504개, 42묶음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효과가 특정 단어의 우연이 아님을 보이려면 이름이 많아야 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설계와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80467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7472" y="2184400"/>
            <a:ext cx="20116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152" y="2184400"/>
            <a:ext cx="221284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이렇게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243840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이름 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7472" y="243840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동사 50 × 명사 50 → 504개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152" y="243840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우연한 단어 효과를 배제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310769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317119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묶음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7472" y="317119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12개씩 42묶음 (중복 없이 전수)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9152" y="317119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한 조건 = 한 묶음. 42가 통계 단위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84048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390398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이름 형태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7472" y="390398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전부 동사+명사 두 단어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9152" y="390398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한 단어면 camel과 snake가 같아진다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57327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63677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함수 본문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7472" y="463677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전 항목 동일 (return value)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9152" y="463677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변하는 것을 이름 표기로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530606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369560"/>
            <a:ext cx="639572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언어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7472" y="5369560"/>
            <a:ext cx="1846580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파이썬만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9152" y="5369560"/>
            <a:ext cx="2047748" cy="732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하네스는 JS를 지원하나 결과 0개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42묶음이 통계 단위인 이유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묶음마다 이름이 달라 난이도가 다르다 — 그래서 언제나 묶음끼리 먼저 빼고 평균한다.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한 조건 = 한 묶음: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묶음 12개 이름으로 프롬프트 하나를 만들고, 그 결과가 한 점이 된다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신뢰구간: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42개 점에 대한 95% 구간을 낸다 — 1.96 × 표준오차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짝짓기: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처치와 통제를 같은 묶음끼리 뺀 다음 평균한다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중요한가: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평균끼리 빼면 차이의 신뢰구간을 얻을 수 없다</a:t>
            </a:r>
          </a:p>
        </p:txBody>
      </p:sp>
      <p:pic>
        <p:nvPicPr>
          <p:cNvPr id="37" name="Picture 36" descr="eq_ne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5182965"/>
            <a:ext cx="1125855" cy="3429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350000" y="5576665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R  처치 — 표기를 바꿔 넣은 것   R′  통제 — 표기 정보 없이 덮기만 한 것   b  묶음 번호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프롬프트 — 실제로 모델에 들어가는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문장은 고정이다 — 긍정형 · 약한 어조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SYSTEM + USER + 강제 접두사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120900"/>
            <a:ext cx="5029200" cy="3956050"/>
          </a:xfrm>
          <a:prstGeom prst="roundRect">
            <a:avLst>
              <a:gd name="adj" fmla="val 963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7100" y="220980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[system]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100" y="238474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You are helping extend an existing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" y="255968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Python module.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" y="273462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In this project we generally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100" y="290957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function names in camelCase.      ← 규칙문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100" y="308451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Every function name uses one of two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" y="325945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styles only: camelCase or snake_case.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100" y="343439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                    ← 후보열거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100" y="360934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[user]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100" y="3784283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def decodeNode(items):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100" y="395922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return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100" y="4134167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... (12개)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100" y="430911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Add one more function that removes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100" y="4484053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duplicates.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100" y="465899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100" y="4833938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[assistant]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100" y="500888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def ␣          ← 강제 접두사(이름 자리)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곳을 구분해야 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초판은 둘을 합쳐 세어 요구 표기어가 2회로 부풀려졌다 — step4에서 분리했다.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규칙문: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둘째 줄. 실제 명령이다. 방향(camel/snake)에 따라 단어가 바뀌지만 자리는 안 바뀐다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후보열거: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셋째 줄. 대칭 나열이다. camelCase가 항상 먼저 나온다 — 자리가 고정이라 해석에 못 쓴다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강제 접두사: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프롬프트 끝에 “def ”를 붙여 이름이 올 자리를 만든다. 여기서 측정한다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고정한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긍정형 · 약한 어조만 돌렸다 — 지침 표현 방식의 효과는 이 연구가 다루지 않는다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모델 4개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특화 3 + 범용 1 — 범용은 대조군이지 일반화 근거가 아니다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66700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033615"/>
            <a:ext cx="10566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Q헤드와 KV헤드 개수가 다르다(GQA). 어텐션과 Value를 곱할 때 그룹 단위로 맞춰야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316992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2720" y="2184400"/>
            <a:ext cx="25359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종류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8656" y="2184400"/>
            <a:ext cx="10566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5296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Q헤드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3264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KV헤드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11232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그룹 크기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300482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2720" y="2438400"/>
            <a:ext cx="2370836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특화 (기준)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8656" y="2438400"/>
            <a:ext cx="89154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5296" y="2438400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3264" y="2438400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1232" y="2438400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2761004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2824504"/>
            <a:ext cx="300482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2720" y="2824504"/>
            <a:ext cx="2370836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특화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8656" y="2824504"/>
            <a:ext cx="89154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5296" y="2824504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3264" y="2824504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1232" y="2824504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3147108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3210608"/>
            <a:ext cx="300482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2720" y="3210608"/>
            <a:ext cx="2370836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범용 (대조)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8656" y="3210608"/>
            <a:ext cx="89154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5296" y="3210608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3264" y="3210608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1232" y="3210608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53321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800" y="3596711"/>
            <a:ext cx="300482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82720" y="3596711"/>
            <a:ext cx="2370836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특화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8656" y="3596711"/>
            <a:ext cx="891540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5296" y="3596711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3264" y="3596711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11232" y="3596711"/>
            <a:ext cx="1102868" cy="386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000" y="4572000"/>
            <a:ext cx="10922000" cy="1682750"/>
          </a:xfrm>
          <a:prstGeom prst="roundRect">
            <a:avLst>
              <a:gd name="adj" fmla="val 452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2800" y="4749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GQA를 어떻게 다루나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800" y="4940300"/>
            <a:ext cx="10566400" cy="49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어텐션 a는 Q헤드별로, Value는 KV헤드별로 나온다. 개수가 달라 그대로 곱할 수 없다. Q헤드 h를 그 그룹의 KV헤드(h ÷ 그룹크기)에 맞춰 곱한다 — Qwen은 Q헤드 8개가 KV헤드 1개를 공유한다. 평균 덮어쓰기도 같은 그룹 단위로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측정 ① 선호 점수 S — 왜 생성이 아니라 확률인가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개입 전후를 같은 자로 재려면 모델이 무엇을 낼지 몰라서는 안 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단위는 nat. S=1이면 준수 후보를 약 2.7배 선호한다.</a:t>
            </a:r>
          </a:p>
        </p:txBody>
      </p:sp>
      <p:pic>
        <p:nvPicPr>
          <p:cNvPr id="11" name="Picture 10" descr="eq_log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9000"/>
            <a:ext cx="1931971" cy="393700"/>
          </a:xfrm>
          <a:prstGeom prst="rect">
            <a:avLst/>
          </a:prstGeom>
        </p:spPr>
      </p:pic>
      <p:pic>
        <p:nvPicPr>
          <p:cNvPr id="12" name="Picture 11" descr="eq_sco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679700"/>
            <a:ext cx="5012104" cy="393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2800" y="31877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x  프롬프트   y⁺  준수 후보   y⁻  위반 후보   y_k  k번째 토큰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422650"/>
            <a:ext cx="50292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후보 두 개 고정: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removeDuplicates / remove_duplicates — 같은 뜻, 표기만 다르다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부호가 곧 답: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양수면 준수 표기를 선호. 크기는 선호의 세기다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조건부 x가 핵심: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프롬프트에 걸린 확률이라 KV를 바꾸면 S가 바뀐다 — 개입 실험이 성립하는 이유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교사강제 — 재는 절차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후보마다 forward 1회씩, 총 2회. 캐시를 복제해 서로 영향을 주지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① 프롬프트를 통과: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x를 forward해 KV 캐시를 만든다. 여기까지 한 번</a:t>
            </a:r>
          </a:p>
          <a:p>
            <a:pPr marL="589407" indent="-58940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② 준수 후보를 얹는다: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캐시 위에 removeDuplicates를 강제로 넣고 토큰별 확률을 읽는다</a:t>
            </a:r>
          </a:p>
          <a:p>
            <a:pPr marL="589407" indent="-58940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③ 위반 후보를 얹는다: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같은 캐시에 remove_duplicates를 넣는다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④ 뺀다: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두 로그확률의 차가 S다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4025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왜 이렇게 하나 — 생성을 시키면 모델이 무슨 이름을 낼지 알 수 없고, 개입 전후를 견줄 공통의 자가 없다. 후보를 고정하면 개입이 그 확률을 얼마나 움직였는지 정확히 잴 수 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45339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⚠️ 길이 정규화를 하지 않는다. 두 후보의 토큰 수가 다르므로(2 vs 3) S의 절대값은 모델 간 비교에 못 쓴다. 우리는 같은 조건 안의 차이만 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측정 ② 되돌림률 R과 판정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개입이 얼마나 되돌렸나 — 그리고 물을 수 없는 조건을 미리 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 상태와 비율</a:t>
            </a:r>
          </a:p>
        </p:txBody>
      </p:sp>
      <p:pic>
        <p:nvPicPr>
          <p:cNvPr id="10" name="Picture 9" descr="eq_reco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9000"/>
            <a:ext cx="1436583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800" y="2794000"/>
            <a:ext cx="60350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기호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6304" y="2794000"/>
            <a:ext cx="311810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어떤 프롬프트인가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4408" y="2794000"/>
            <a:ext cx="13075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부르는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9464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3048000"/>
            <a:ext cx="438404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6304" y="3048000"/>
            <a:ext cx="2953004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문맥에 위반 6개 — 아무것도 안 건드린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4408" y="3048000"/>
            <a:ext cx="1142492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3310467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3373967"/>
            <a:ext cx="438404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6304" y="3373967"/>
            <a:ext cx="2953004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문맥이 전부 준수 — 오염이 없을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4408" y="3373967"/>
            <a:ext cx="1142492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천장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363643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3699933"/>
            <a:ext cx="438404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6304" y="3699933"/>
            <a:ext cx="2953004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 문맥의 내부 값(KV)을 덮은 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4408" y="3699933"/>
            <a:ext cx="1142492" cy="32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개입 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4152900"/>
            <a:ext cx="5029200" cy="49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 = 1이면 천장까지 완전 회복, R = 0이면 변화 없음. ⚠️ 위가 막혀 있지 않다 — 1을 넘는 구간은 되살아난 것이 아니라 지나친 것이다. 이 사실이 뒤에서 큰 문제가 된다.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판정 불가 — 왜 필요한가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임계는 intervention.UNDECIDABLE_GAP = 1.0. 결과 JSON에 gap·undecidable이 저장된다.</a:t>
            </a:r>
          </a:p>
        </p:txBody>
      </p:sp>
      <p:pic>
        <p:nvPicPr>
          <p:cNvPr id="30" name="Picture 29" descr="eq_unde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159000"/>
            <a:ext cx="1908827" cy="330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50000" y="25146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S₀  기준(개입 없음)   S₁  천장(오염 없음)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0" y="27305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무슨 상황인가: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문맥이 애초에 행동을 흔들지 못한 조건이다 — 천장과 바닥이 거의 같다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빼는가: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분모가 잡음이면 비율이 의미를 잃는다. 0.1을 0.05로 나누면 2가 나오지만 뜻이 없다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논문에 할 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임계 민감도(0.5 / 1.0 / 2.0)를 각주로 함께 싣는다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 영향: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Llama 지침 인과에서 특히 많이 빠진다 — 84조건 중 29개만 남는다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측정 ③ 관측 3지표와 정규화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무엇을 얼마나 보나 — 그리고 왜 토큰 수로 나눠야 하나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413000"/>
          </a:xfrm>
          <a:prstGeom prst="roundRect">
            <a:avLst>
              <a:gd name="adj" fmla="val 3157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축을 관측과 인과에서 각각 어떻게 재나</a:t>
            </a:r>
          </a:p>
        </p:txBody>
      </p:sp>
      <p:pic>
        <p:nvPicPr>
          <p:cNvPr id="10" name="Picture 9" descr="eq_span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9000"/>
            <a:ext cx="3568828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800" y="27432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3424" y="2743200"/>
            <a:ext cx="316992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관측 (STEP2·4)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3344" y="27432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인과 (STEP3·5)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3968" y="2743200"/>
            <a:ext cx="401523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⚠️ 주의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8956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2997200"/>
            <a:ext cx="1525524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축 A — 얼마나 보나 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3424" y="2997200"/>
            <a:ext cx="3004820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어텐션. 한 행이 1로 합해지므로 곧 비중이다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3344" y="2997200"/>
            <a:ext cx="1525524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Key만 덮어쓴다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3968" y="2997200"/>
            <a:ext cx="3850132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관측은 배치 하나로 못 믿는다 → 자리 통제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3272367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800" y="3335867"/>
            <a:ext cx="1525524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축 B — 무엇이 실려 오나 (v)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3424" y="3335867"/>
            <a:ext cx="3004820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‖v‖. 주의와 무관한 내용 자체의 크기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3344" y="3335867"/>
            <a:ext cx="1525524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Value만 덮어쓴다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3968" y="3335867"/>
            <a:ext cx="3850132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이미 토큰당 평균이라 다시 나누지 않는다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3611033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3674533"/>
            <a:ext cx="1525524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(보조) 두 축의 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3424" y="3674533"/>
            <a:ext cx="3004820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‖a·v‖ = Σ a·‖v‖. Kobayashi et al. (2020) 계열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3344" y="3674533"/>
            <a:ext cx="1525524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쓰지 않는다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3968" y="3674533"/>
            <a:ext cx="3850132" cy="338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W_O 이전 값이라 상한 대리치. 이 지표에 근거한 관측은 철회됐다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000" y="4318000"/>
            <a:ext cx="5384800" cy="1936750"/>
          </a:xfrm>
          <a:prstGeom prst="roundRect">
            <a:avLst>
              <a:gd name="adj" fmla="val 3934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2800" y="4495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토큰당으로 나누는 이유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합끼리 비교하면 긴 쪽이 무조건 이긴다. 그래서 구간 합 ÷ 구간 토큰 수를 쓴다.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4749800"/>
            <a:ext cx="170992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22728" y="47498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CAMEL 토큰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9152" y="47498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SNAKE 토큰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5576" y="47498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비율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49022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800" y="5003800"/>
            <a:ext cx="1544828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 · Llama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2728" y="5003800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12.60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29152" y="5003800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12.74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5576" y="5003800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800" y="5211688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2800" y="5275188"/>
            <a:ext cx="1544828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22728" y="5275188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16.21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9152" y="5275188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22.45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5576" y="5275188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1.385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800" y="5483077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800" y="5546577"/>
            <a:ext cx="1544828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22728" y="5546577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14.21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9152" y="5546577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20.40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35576" y="5546577"/>
            <a:ext cx="941324" cy="271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1.436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72200" y="4318000"/>
            <a:ext cx="5384800" cy="1936750"/>
          </a:xfrm>
          <a:prstGeom prst="roundRect">
            <a:avLst>
              <a:gd name="adj" fmla="val 3934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50000" y="4495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‖A·V‖는 왜 보조로 내렸나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살아 있는 주장은 전부 되돌림률(인과)과 생성 준수율(행동) 위에 서 있다.</a:t>
            </a:r>
          </a:p>
        </p:txBody>
      </p:sp>
      <p:pic>
        <p:nvPicPr>
          <p:cNvPr id="55" name="Picture 54" descr="eq_av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4724400"/>
            <a:ext cx="1584249" cy="3175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350000" y="50673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왼쪽  우리가 재는 값   오른쪽  실제로 잔차에 더해지는 크기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0000" y="52705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어텐션 가중치와 값 노름의 곱으로 구간 기여를 근사하는 방식은 Kobayashi et al.(2020)이 제안했다. 다만 그쪽은 출력 사영 W_O를 노름 안에 넣는다. 우리 값은 W_O 이전이라 같은 지표가 아니라 **상한 대리치**다.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0000" y="59817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그리고 이 지표는 어텐션을 곱하므로 자리 교란을 그대로 받는다 — 자리 통제 후 Qwen 11%·Llama 3%만 남고 DeepSeek은 음수로 뒤집혔다. 그래서 이 지표에 근거한 관측은 철회했고, 논문에서는 보조 서술로만 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개입 ― KV 캐시 평균 덮어쓰기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가중치를 건드리지 않고, 이미 계산된 내부 값만 바꾼다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덮나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가중치·FFN·임베딩은 건드리지 않는다. 캐시에 저장된 KV만 바꾼다.</a:t>
            </a:r>
          </a:p>
        </p:txBody>
      </p:sp>
      <p:pic>
        <p:nvPicPr>
          <p:cNvPr id="11" name="Picture 10" descr="eq_meanpoo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59000"/>
            <a:ext cx="2205747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2800" y="25273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D  공여 쪽 조각 자리   P  덮을 자리   k  Key — Value도 같다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2730500"/>
            <a:ext cx="5029200" cy="910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왜 평균인가 — 같은 이름의 두 표기가 모델마다 다른 개수로 쪼개진다(formatMatrix 2조각 / format_matrix 3조각). 조각 수가 안 맞으면 자리마다 무엇을 넣을지 정할 수 없다. 공여 조각들을 평균 내 대상 자리 전부에 넣으면 토크나이저와 무관하고 건너뛰는 이름이 없다.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831849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덮는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9224" y="3831849"/>
            <a:ext cx="392277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검증하는 가설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3984249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800" y="4085849"/>
            <a:ext cx="941324" cy="577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Key만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9224" y="4085849"/>
            <a:ext cx="3757676" cy="577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문제가 어디를 보는가(어텐션)에 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59972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4663221"/>
            <a:ext cx="941324" cy="577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Value만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9224" y="4663221"/>
            <a:ext cx="3757676" cy="577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문제가 무엇이 실려 오는가(내용)에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517709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5240593"/>
            <a:ext cx="941324" cy="577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둘 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19224" y="5240593"/>
            <a:ext cx="3757676" cy="577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결합 개입 — 상한이 아니다. 실제로 Value 단독보다 작다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⚠️ 결론의 유효 범위가 여기서 정해진다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그래서 별도의 장치 검사(08부)를 돌렸다.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0" y="2159000"/>
            <a:ext cx="5029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4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모든 인과 결론은 “post-RoPE KV 캐시를</a:t>
            </a:r>
          </a:p>
          <a:p>
            <a:pPr algn="l">
              <a:lnSpc>
                <a:spcPct val="135000"/>
              </a:lnSpc>
            </a:pPr>
            <a:r>
              <a:rPr sz="1600" b="0" spc="-4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평균 덮어쓰기로 바꾸는 규격” 안의 결과다.</a:t>
            </a:r>
          </a:p>
        </p:txBody>
      </p:sp>
      <p:pic>
        <p:nvPicPr>
          <p:cNvPr id="29" name="Picture 28" descr="eq_r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933700"/>
            <a:ext cx="3419412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50000" y="32766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R  위치에 따른 회전 — Key에만 붙는다   k·v  캐시에 저장되는 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34798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캐시의 Key에는 그 토큰이 있던 위치의 회전 위상이 박혀 있다(RoPE). 위상이 다른 회전 벡터를 평균하면 상쇄 간섭이 일어나 크기가 줄어든다. Value는 RoPE가 없어 이 문제가 없다. 즉 Key와 Value가 대칭적으로 다뤄지지 않는다.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0" y="41783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우리 주장이 정확히 “Key는 안 되고 Value는 된다”이므로, 결론이 방법의 산물일 위험이 직결된다. native Key 경로 자체에 대한 주장이 아니라고 본문에 반드시 적는다.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03 · 공통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통제 ― 이 연구의 방법론적 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덮어쓰기는 정보를 넣는 동시에 원래 표현을 지운다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03 · 공통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09550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통제 없이 잰 값은 상한인가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 이름 자리에 준수판을 덮으면 준수 신호가 들어간다. 그런데 동시에 원래 있던 것이 지워지고, 평균 풀링으로 단어 내부 구조도 뭉개진다. 그래서 되돌림률이 올라가도 그것이 “준수 정보가 들어가서”인지 “원래 것이 지워져서”인지 가릴 수 없다. 통제는 두 번째 몫을 재기 위한 것이다.</a:t>
            </a:r>
          </a:p>
        </p:txBody>
      </p:sp>
      <p:pic>
        <p:nvPicPr>
          <p:cNvPr id="11" name="Picture 10" descr="eq_ne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806700"/>
            <a:ext cx="1125855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2800" y="3200400"/>
            <a:ext cx="10566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R  처치 — 표기를 바꿔 넣은 것   R′  통제 — 표기 정보 없이 덮기만 한 것   b  묶음 번호 1~42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365500"/>
            <a:ext cx="10566400" cy="256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반드시 같은 묶음끼리 먼저 빼고 42묶음에 대해 평균·신뢰구간을 낸다. 평균끼리 빼면 차이의 신뢰구간을 얻을 수 없다.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" y="4000500"/>
            <a:ext cx="10922000" cy="2254250"/>
          </a:xfrm>
          <a:prstGeom prst="roundRect">
            <a:avLst>
              <a:gd name="adj" fmla="val 338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800" y="41783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스텝별 처치와 통제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44323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스텝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2096" y="4432300"/>
            <a:ext cx="25359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처치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4432300"/>
            <a:ext cx="274726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통제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5296" y="4432300"/>
            <a:ext cx="380390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통제가 잡는 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45847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800" y="4686300"/>
            <a:ext cx="1314196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(코드)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2096" y="4686300"/>
            <a:ext cx="2370836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다른 camel 이름을 덮는다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4686300"/>
            <a:ext cx="2582164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다른 snake 이름을 덮는다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5296" y="4686300"/>
            <a:ext cx="3638804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표기 정보 없이 덮기만 했을 때의 교란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094817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5158317"/>
            <a:ext cx="1314196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step5 (지침)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92096" y="5158317"/>
            <a:ext cx="2370836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반대 지침의 지시어를 덮는다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5158317"/>
            <a:ext cx="2582164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같은 지시어를 덮는다(자기 통제)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5296" y="5158317"/>
            <a:ext cx="3638804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평균 풀링 + 덮어쓰기 교란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800" y="5566833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800" y="5630333"/>
            <a:ext cx="1314196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step5 (지침)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2096" y="5630333"/>
            <a:ext cx="2370836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5630333"/>
            <a:ext cx="2582164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무관한 단어 project를 덮는다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5296" y="5630333"/>
            <a:ext cx="3638804" cy="4720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표기와 무관한 내용을 덮었을 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04 · STEP1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step1 — 무엇을 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선행 코드의 위반 개수를 0에서 12까지 바꿔가며 실제로 생성시킨다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04 · STEP1 · 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조건 2,184개 = 2모델 × 위반 0~12 × 지침 방향 2 × 42묶음.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808" y="2184400"/>
            <a:ext cx="38221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2438400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808" y="2438400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Qwen2.5-Coder-3B · StableCode-3B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305081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800" y="3114313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위반 개수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808" y="3114313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12개 중 0개부터 12개까지 전 구간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726726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3790226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지침 방향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9808" y="3790226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camel · snake 양방향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4402639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4466139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묶음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808" y="4466139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078552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5142052"/>
            <a:ext cx="1041908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재는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9808" y="5142052"/>
            <a:ext cx="3657092" cy="675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실제 생성한 이름이 지침 표기를 따르는 비율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처음 가정과 예측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처음 가정: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위반이 늘수록 준수율이 완만하게 내려갈 것이다 — 문맥과 지침의 줄다리기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예측 A가 맞으면: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비율이 선형에 가깝게 떨어진다. 문맥은 지침과 경쟁하는 또 하나의 증거다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예측 B가 맞으면: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어느 지점에서 급락한다. 그렇다면 경쟁이 아니라 전환이다 — 무엇이 그 지점을 만드는지 물어야 한다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 스텝의 몫: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행동만 본다. 왜 그런지는 step2 이후가 답한다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04 · STEP1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step1 결과 — 완만한 하락이 아니라 절벽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 5개에서 준수율이 정확히 0으로 무너지고 회복하지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04 · STEP1 · 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7493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7137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준수율 곡선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7137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가로축 = 선행 코드 12개 중 위반 개수 · 세로축 = 새 이름이 지침을 따른 비율.</a:t>
            </a:r>
          </a:p>
        </p:txBody>
      </p:sp>
      <p:pic>
        <p:nvPicPr>
          <p:cNvPr id="11" name="Picture 10" descr="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746" y="2120900"/>
            <a:ext cx="4945508" cy="367166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80400" y="1752600"/>
            <a:ext cx="3276600" cy="4502150"/>
          </a:xfrm>
          <a:prstGeom prst="roundRect">
            <a:avLst>
              <a:gd name="adj" fmla="val 2325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30400"/>
            <a:ext cx="2921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읽는 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0900"/>
            <a:ext cx="29210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임계: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 4개까지는 부분적으로 버티다가 5개에서 0이 된다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회복 없음: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 아래로는 42묶음 중 단 한 번도 지침을 지키지 않는다</a:t>
            </a:r>
          </a:p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두 모델 같은 자리: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무너지는 지점이 Qwen과 StableCode에서 같다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지침 순응도는 다르다: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위반이 없을 때 준수율은 1.00 대 0.71로 크게 차이 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04 · STEP1 ·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step1 — 가정이 바뀐 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RQ1은 무조건 성립하지 않는다 — 방향 조건부다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04 · STEP1 · 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기대: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방향과 무관하게 문맥 오염이 준수율을 낮출 것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지침이 snake일 때는 문맥이 무엇이든 모델이 지침을 지킨다</a:t>
            </a:r>
          </a:p>
          <a:p>
            <a:pPr marL="208026" indent="-20802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파이썬에서 snake_case는 모델의 사전 선호(기본값)다. 지침이 그 선호와 같으면 문맥이 흔들 것이 없다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바뀐 서술: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“문맥 위반이 준수율을 낮춘다”가 아니라 “지침이 모델의 사전 선호와 어긋날 때만 낮춘다”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이 수정이 뒤에 미친 영향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step2·3이 camel 지침만 돌린 것은 이 때문이다 — 동시에 그것이 한계가 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실험 설계: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이후 기제 실험은 지침 = camel로 고정했다. snake 지침에서는 흔들림이 없어 잴 것이 없다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생긴 한계: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그래서 step2·3에서 “위반이라서”와 “snake라서”를 가를 수 없다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보완: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step4·5는 양방향을 돌렸고, 두 방향에서 모두 성립하는 것만 주장한다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논문 서술: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RQ1은 조건부로 쓴다 — 무조건 성립한다고 쓰면 사실과 다르다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 — 무엇을 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이름을 쓰기 직전 한 순간을 정지시켜, 어디를 얼마나 보는지 층별로 뜯는다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관측 절차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개입은 없다. forward 한 번으로 전부 꺼낸다.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언제: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프롬프트 끝에 “def ”를 붙인 그 순간 — 이름을 쓰기 직전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어디: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마지막 위치의 query 한 행. 그 행이 앞의 모든 토큰을 얼마나 보는지가 담겨 있다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무엇을: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구간 5종 — 코드 camel · 코드 snake · 지침 전체 · 규칙문 지시어 · 후보열거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층마다: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모델의 모든 층에서 같은 것을 꺼낸다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⚠️ eager 필수: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sdpa/flash는 어텐션 행렬을 아예 만들지 않고 경고만 찍고 무시한다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처음 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조건 168개 = 4모델 × 42묶음. 시드 42.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가정: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 이름이 준수 이름보다 더 참조될 것이다 — 그것이 지침을 덮는 경로다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맞으면: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위반 구간의 어텐션이 더 높게 나온다. 어느 층에서 벌어지는지도 보인다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아니면: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어텐션에는 신호가 없다 — 그러면 내용(Value) 쪽을 봐야 한다</a:t>
            </a:r>
          </a:p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 스텝의 한계: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관측은 상관이다. “더 봐서”인지 “내용이 커서”인지 가를 수 없다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 초판 결과 — “위반을 더 본다”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네 모델 모두 빨간 선(위반)이 파란 선(준수) 위에 있었다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395193"/>
            <a:ext cx="2260600" cy="1673914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tep2__attention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471393"/>
            <a:ext cx="2108200" cy="15215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4036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814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400" y="2395193"/>
            <a:ext cx="2260600" cy="1673914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tep2__attention_deeps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471393"/>
            <a:ext cx="2108200" cy="152151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722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00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395193"/>
            <a:ext cx="2260600" cy="1673914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step2__attention_lla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2471393"/>
            <a:ext cx="2108200" cy="152151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9408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186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8600" y="2395193"/>
            <a:ext cx="2260600" cy="1673914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step2__attention_st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800" y="2471393"/>
            <a:ext cx="2108200" cy="15215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5000" y="4584700"/>
            <a:ext cx="1092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가로축 = 층 · 세로축 = 토큰당 어텐션 · 빨강 = 위반(snake) · 파랑 = 준수(camel)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000" y="4889500"/>
            <a:ext cx="10922000" cy="1365250"/>
          </a:xfrm>
          <a:prstGeom prst="roundRect">
            <a:avLst>
              <a:gd name="adj" fmla="val 5581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2800" y="50673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그때 쓴 서술 — 지금은 철회됐다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52578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“모델은 문맥의 위반 이름을 더 참조한다. 그 격차는 후반 층에서 커진다.” 네 모델 모두 부호가 양수였고, 봉우리가 중후반 층에 섰다. ‖a·v‖에서도 같은 방향이었다. 이 서술은 두 번의 시행착오를 거쳐 결국 철회된다.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시행착오 ① 토큰 수 편향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밑줄을 따로 떼는 토크나이저에서 snake 구간이 1.44배 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발견: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구간 어텐션을 합으로 쟀는데, 두 구간의 토큰 수가 다르다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원인: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DeepSeek·StableCode는 split_config를 ' split','_','config'로 쪼갠다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결과: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합끼리 비교하면 긴 쪽(snake)이 무조건 이긴다 — 신호가 아니라 길이를 잰 것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고친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구간 합 ÷ 구간 토큰 수로 다시 집계. 재실행 없이 원자료에서 계산했다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당시 판정: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부호 8/8 유지, 봉우리 층은 1개만 이동 → “결론은 안전하다”고 봤다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정규화가 결론을 바꾸는 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빨강 = 토큰당(우리가 쓰는 값) · 회색 파선 = 합(나누지 않은 값). 눈금이 다르다.</a:t>
            </a:r>
          </a:p>
        </p:txBody>
      </p:sp>
      <p:pic>
        <p:nvPicPr>
          <p:cNvPr id="14" name="Picture 13" descr="gap_deeps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846" y="2120900"/>
            <a:ext cx="4945508" cy="36716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시행착오 ② 자리 교란을 발견하다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“위반을 본다”와 “앞자리를 본다”가 100% 겹쳐 있었다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발견: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토큰별로 뜯어보니 1번 자리 하나가 나머지 평균의 2.5배를 받고 있었다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확인: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1번 자리만 빼면 격차가 사라진다 — 네 모델 중 셋에서 부호까지 뒤집힌다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원인: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표기 배치를 묶음이 아니라 시드가 정한다. 그래서 42묶음 전부 배치가 같다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하필: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시드 42에서 1번 자리가 위반이다. 어텐션은 프롬프트 순서를 따라 떨어진다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결론: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관측만으로는 표기 효과와 자리 효과를 가를 수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1번 자리를 빼면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전체 격차는 크지만, 1번을 빼면 네 모델 중 셋에서 부호가 뒤집힌다.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184400"/>
            <a:ext cx="13075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7592" y="2184400"/>
            <a:ext cx="905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전체 위반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2848" y="2184400"/>
            <a:ext cx="905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전체 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8104" y="2184400"/>
            <a:ext cx="905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3360" y="2184400"/>
            <a:ext cx="10058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1번 뺀 차이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2438400"/>
            <a:ext cx="11424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7592" y="243840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0.1549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2848" y="243840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0.1259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8104" y="243840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3360" y="2438400"/>
            <a:ext cx="84074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27463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0" y="2809875"/>
            <a:ext cx="11424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7592" y="280987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0.0459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2848" y="280987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0.0262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8104" y="280987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+0.0197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3360" y="2809875"/>
            <a:ext cx="84074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1178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0000" y="3181350"/>
            <a:ext cx="11424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7592" y="318135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0.0639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2848" y="318135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0.0565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8104" y="3181350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3360" y="3181350"/>
            <a:ext cx="84074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34893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0000" y="3552825"/>
            <a:ext cx="114249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7592" y="355282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0.0878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2848" y="355282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0.0634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8104" y="3552825"/>
            <a:ext cx="74015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3360" y="3552825"/>
            <a:ext cx="84074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0" y="4025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배치가 시드로 정해지는 것은 step2 감사 문서 A1이 이미 지적하고 있었다. 다만 그때는 영향을 “시드 강건성 검증 불가” 정도로 봤고, 제시된 대안 (c)를 실행하지 않은 채 넘어갔다. 실제로 돌려보니 결론이 뒤집혔다.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자리 통제 — 배치를 정확히 뒤집는다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시드 67이 시드 42의 여집합이다 — 12자리가 전부 반대다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두 시드를 평균하면 자리가 지워지나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120900"/>
            <a:ext cx="5029200" cy="9525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7100" y="2209800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시드 42 :  S C C S S S S C C C C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100" y="2384742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시드 67 :  C S S C C C C S S S S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" y="2559685"/>
            <a:ext cx="4800600" cy="17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↑ 12자리 중 같은 자리 0개</a:t>
            </a:r>
          </a:p>
        </p:txBody>
      </p:sp>
      <p:pic>
        <p:nvPicPr>
          <p:cNvPr id="14" name="Picture 13" descr="eq_po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3187700"/>
            <a:ext cx="1897656" cy="292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800" y="35052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a  그 구간이 받은 어텐션   f(p)  자리가 만드는 몫   g(n)  표기가 만드는 몫</a:t>
            </a:r>
          </a:p>
        </p:txBody>
      </p:sp>
      <p:pic>
        <p:nvPicPr>
          <p:cNvPr id="16" name="Picture 15" descr="eq_poscan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695700"/>
            <a:ext cx="2684670" cy="33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2800" y="41021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여집합이므로 자리 항이 식에서 빠진다. 표본을 늘려 노이즈를 줄인 것이 아니라 교란항 자체가 사라지는 것이다 — 통계적 상쇄가 아니라 대수적 상쇄다. 그래서 42묶음만으로도 신뢰구간이 좁다.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어느 결과가 무슨 뜻인가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실행 전에 기록한 판정 기준이다. 결과를 보고 만든 것이 아니다.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2184400"/>
            <a:ext cx="15087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시드 평균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8760" y="2184400"/>
            <a:ext cx="35204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0" y="243840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0을 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8760" y="2438400"/>
            <a:ext cx="33553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격차는 자리 때문이다 — 초판 서술을 철회한다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27781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000" y="284162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0에서 떨어진다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8760" y="2841625"/>
            <a:ext cx="33553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자리를 지우고도 남는 진짜 표기 효과다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1813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0" y="324485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시드67이 크게 반대 부호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8760" y="3244850"/>
            <a:ext cx="33553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양성 통제 — 측정 장치가 살아 있다는 증거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35845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0000" y="364807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‖v‖는 그대로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8760" y="3648075"/>
            <a:ext cx="33553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음성 통제 — 어텐션을 곱하지 않으니 안 변해야 맞다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0" y="41529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③이 중요하다. 시드67이 그냥 0이 나왔다면 “장치가 죽은 건지 효과가 없는 건지” 가릴 수 없다. 크게 반대 방향으로 나와야 “못 재서 0”이 아니라 “재 봤더니 0”이 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 결론 — 초판 서술을 철회한다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배치를 뒤집자 Qwen과 Llama에서 부호까지 뒤집혔다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413000"/>
          </a:xfrm>
          <a:prstGeom prst="roundRect">
            <a:avLst>
              <a:gd name="adj" fmla="val 3157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층별 — 시드 42 · 시드 67 · 두 시드 평균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779615"/>
            <a:ext cx="10566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파선 둘이 거의 완벽한 거울상이고, 검은 실선(자리 제거)은 0에 붙어 있다.</a:t>
            </a:r>
          </a:p>
        </p:txBody>
      </p:sp>
      <p:pic>
        <p:nvPicPr>
          <p:cNvPr id="11" name="Picture 10" descr="position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390" y="2120900"/>
            <a:ext cx="7437220" cy="15825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5000" y="4318000"/>
            <a:ext cx="10922000" cy="1936750"/>
          </a:xfrm>
          <a:prstGeom prst="roundRect">
            <a:avLst>
              <a:gd name="adj" fmla="val 3934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2800" y="4495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층에서의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47498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3424" y="47498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392" y="47498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시드 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0688" y="47498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시드 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4749800"/>
            <a:ext cx="21132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시드 평균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3264" y="47498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0을 무나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22560" y="4749800"/>
            <a:ext cx="10566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남은 비율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49022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5003800"/>
            <a:ext cx="1525524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3424" y="5003800"/>
            <a:ext cx="1102868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392" y="5003800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+0.00217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0688" y="5003800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-0.00207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4" y="5003800"/>
            <a:ext cx="194818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+0.00003±0.00050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3264" y="5003800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22560" y="5003800"/>
            <a:ext cx="89154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5214938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278438"/>
            <a:ext cx="1525524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3424" y="5278438"/>
            <a:ext cx="1102868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1392" y="5278438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0688" y="5278438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5278438"/>
            <a:ext cx="194818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+0.00088±0.00004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3264" y="5278438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아니오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22560" y="5278438"/>
            <a:ext cx="89154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114.3%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5489575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800" y="5553075"/>
            <a:ext cx="1525524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3424" y="5553075"/>
            <a:ext cx="1102868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1392" y="5553075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+0.00079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0688" y="5553075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-0.00089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9984" y="5553075"/>
            <a:ext cx="194818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-0.00005±0.00009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3264" y="5553075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2560" y="5553075"/>
            <a:ext cx="89154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-5.8%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5764212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2800" y="5827712"/>
            <a:ext cx="1525524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03424" y="5827712"/>
            <a:ext cx="1102868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71392" y="5827712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+0.00108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0688" y="5827712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9984" y="5827712"/>
            <a:ext cx="194818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+0.00063±0.00012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3264" y="5827712"/>
            <a:ext cx="1314196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아니오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22560" y="5827712"/>
            <a:ext cx="891540" cy="274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58.5%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05 · STEP2 · RQ2 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교란은 어텐션 경로로 들어왔다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어텐션을 곱하는 지표만 무너지고, ‖v‖는 그대로다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05 · STEP2 · RQ2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413000"/>
          </a:xfrm>
          <a:prstGeom prst="roundRect">
            <a:avLst>
              <a:gd name="adj" fmla="val 3157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지표 3종에 같은 통제를 걸었을 때 남은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779615"/>
            <a:ext cx="10566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‖v‖만 어텐션을 곱하지 않는다 — 배치를 바꿔도 안 변하는 것이 맞고, 실제로 안 변한다.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2096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어텐션 곱함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6704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7328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7952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8576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1314196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어텐션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2096" y="2438400"/>
            <a:ext cx="2159508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6704" y="2438400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328" y="2438400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114.3%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7952" y="2438400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-5.8%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8576" y="2438400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58.5%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2805038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2868538"/>
            <a:ext cx="1314196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‖a·v‖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2096" y="2868538"/>
            <a:ext cx="2159508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6704" y="2868538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10.5%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7328" y="2868538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-44.7%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7952" y="2868538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8576" y="2868538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60.2%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3235177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3298677"/>
            <a:ext cx="1314196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‖v‖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92096" y="3298677"/>
            <a:ext cx="2159508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✕ ← 음성 통제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6704" y="3298677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44.9%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7328" y="3298677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92.7%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97952" y="3298677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97.4%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8576" y="3298677"/>
            <a:ext cx="1525524" cy="430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000" y="4318000"/>
            <a:ext cx="10922000" cy="1936750"/>
          </a:xfrm>
          <a:prstGeom prst="roundRect">
            <a:avLst>
              <a:gd name="adj" fmla="val 3934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2800" y="4495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무너지고 무엇이 남나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47498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어디서 나온 주장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7408" y="4749800"/>
            <a:ext cx="42265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3968" y="4749800"/>
            <a:ext cx="401523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이번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800" y="49022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800" y="5003800"/>
            <a:ext cx="2159508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 (어텐션 관측)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7408" y="5003800"/>
            <a:ext cx="4061460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위반을 더 본다 · 후반 층에서 커진다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3968" y="5003800"/>
            <a:ext cx="3850132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철회 — 자리 효과였고 방향도 반대다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800" y="5306483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800" y="5369983"/>
            <a:ext cx="2159508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· step5 (인과)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37408" y="5369983"/>
            <a:ext cx="4061460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Value를 후반 특정 층에서 바꾸면 행동이 바뀐다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3968" y="5369983"/>
            <a:ext cx="3850132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그대로 유효 — 처치와 통제가 같은 자리를 건드린다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2800" y="5672667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2800" y="5736167"/>
            <a:ext cx="2159508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(처방)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37408" y="5736167"/>
            <a:ext cx="4061460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 층 Value를 밀면 준수가 되살아난다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3968" y="5736167"/>
            <a:ext cx="3850132" cy="366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그대로 유효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 · STEP3 · RQ2 인과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— 관측이 못 준 답을 인과로 받는다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문맥의 위반 이름이 남긴 내부 값을 준수판의 것으로 바꿔치기한다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06 · STEP3 · RQ2 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건드리나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화면의 글자는 그대로 둔다. 캐시에 남은 내부 값만 바꾼다.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120900"/>
            <a:ext cx="5029200" cy="1206500"/>
          </a:xfrm>
          <a:prstGeom prst="roundRect">
            <a:avLst>
              <a:gd name="adj" fmla="val 3157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27100" y="2209800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화면의 글자:  def merge_data(items):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" y="2375535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       │   ←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" y="2541270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캐시의 값  :  [ k, v ] ← 이것만 덮는다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100" y="2707005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      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100" y="2872740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merge_data 의 준수판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" y="3038475"/>
            <a:ext cx="4800600" cy="165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mergeData 의 [k, v]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3454400"/>
            <a:ext cx="50292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Key만 덮으면: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어디를 보는지가 바뀐다. 회복되면 문제는 어텐션에 있었다</a:t>
            </a:r>
          </a:p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Value만 덮으면: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무엇이 실려 오는지가 바뀐다. 회복되면 문제는 내용에 있었다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층마다: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전 층을 하나씩 훑어 어느 층에서 회복이 가장 큰지 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이 스텝이 자리 교란을 안 받나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자리가 설계상 상수이므로 순효과에서 소거된다.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2159000"/>
            <a:ext cx="5029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spc="-6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처치와 통제가</a:t>
            </a:r>
          </a:p>
          <a:p>
            <a:pPr algn="l">
              <a:lnSpc>
                <a:spcPct val="135000"/>
              </a:lnSpc>
            </a:pPr>
            <a:r>
              <a:rPr sz="1900" b="0" spc="-6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같은 자리를 건드린다.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2882900"/>
            <a:ext cx="5029200" cy="723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문맥의 snake 이름이 프롬프트의 어느 자리에 있든, 그 자리를 처치(준수판 camel)로도 덮고 통제(무관한 snake)로도 덮은 뒤 두 결과를 뺀다. 자리 효과는 양쪽에 똑같이 들어가므로 뺄 때 사라진다.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0" y="3581400"/>
            <a:ext cx="50292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조건 504개: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4모델 × 42묶음 × 공여 3종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공여 3종: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같은 이름의 준수판 · 무관한 camel 이름(처치) · 무관한 snake 이름(통제)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재는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층별 되돌림률 R, 그리고 처치 − 통제인 순효과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 · STEP3 · RQ2 인과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시행착오 — 통제 없이는 절반이 거품이다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덮어쓰기 자체가 만드는 가짜 회복을 재서 빼야 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06 · STEP3 · RQ2 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준수판을 덮었더니 되돌림률이 0.54까지 나왔다 — 크다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의심: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덮어쓰기는 정보를 넣는 동시에 원래 표현을 지운다. 그 몫이 섞여 있지 않을까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확인: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표기 정보가 전혀 없는 무관한 snake 이름을 덮어도 0.26이 나왔다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판정: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원래 값의 약 절반이 표기와 무관한 거품이었다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고친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보고는 언제나 처치 − 통제로 한다. 통제 없이 잰 값은 상한이라 명시한다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거품의 크기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회색 = 아무것도 안 뺀 값 · 파랑 = 통제를 뺀 순효과 · 빨강 = 통제(거품)</a:t>
            </a:r>
          </a:p>
        </p:txBody>
      </p:sp>
      <p:pic>
        <p:nvPicPr>
          <p:cNvPr id="14" name="Picture 13" descr="explai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950589"/>
            <a:ext cx="5029200" cy="20122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 · STEP3 · RQ2 인과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결과 — 신호는 Value에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내용 쪽만 바꾸면 되돌아오고, 어텐션 쪽은 거의 움직이지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06 · STEP3 · RQ2 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1905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층에서의 순효과 (처치 − 통제, 42묶음 95% 신뢰구간)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3923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5192" y="2184400"/>
            <a:ext cx="11961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1389" y="2184400"/>
            <a:ext cx="79746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깊이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8853" y="2184400"/>
            <a:ext cx="19936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2513" y="2184400"/>
            <a:ext cx="179429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6808" y="2184400"/>
            <a:ext cx="11961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KEY+VALUE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3004" y="2184400"/>
            <a:ext cx="11961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 ÷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22272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5192" y="24384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1389" y="2438400"/>
            <a:ext cx="63236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8853" y="2438400"/>
            <a:ext cx="18285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+0.253 ± 0.008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2513" y="2438400"/>
            <a:ext cx="16291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-0.005 ± 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6808" y="24384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3004" y="24384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6416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2705100"/>
            <a:ext cx="22272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5192" y="27051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1389" y="2705100"/>
            <a:ext cx="63236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8853" y="2705100"/>
            <a:ext cx="18285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+0.125 ± 0.008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2513" y="2705100"/>
            <a:ext cx="16291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+0.004 ± 0.002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6808" y="27051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3004" y="27051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29083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2971800"/>
            <a:ext cx="22272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5192" y="29718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1389" y="2971800"/>
            <a:ext cx="63236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8853" y="2971800"/>
            <a:ext cx="18285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+0.358 ± 0.018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2513" y="2971800"/>
            <a:ext cx="16291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+0.003 ± 0.001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6808" y="29718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3004" y="29718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800" y="31750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800" y="3238500"/>
            <a:ext cx="22272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5192" y="32385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1389" y="3238500"/>
            <a:ext cx="63236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98853" y="3238500"/>
            <a:ext cx="18285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+0.189 ± 0.012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2513" y="3238500"/>
            <a:ext cx="162919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+0.021 ± 0.003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6808" y="32385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83004" y="3238500"/>
            <a:ext cx="10310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000" y="3810000"/>
            <a:ext cx="5384800" cy="2444750"/>
          </a:xfrm>
          <a:prstGeom prst="roundRect">
            <a:avLst>
              <a:gd name="adj" fmla="val 311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2800" y="3987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층별 곡선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파랑 = Value · 회색 점선 = Key. Key는 전 층 어디에서도 봉우리가 서지 않는다.</a:t>
            </a:r>
          </a:p>
        </p:txBody>
      </p:sp>
      <p:pic>
        <p:nvPicPr>
          <p:cNvPr id="52" name="Picture 51" descr="code_causality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340" y="4178300"/>
            <a:ext cx="2316120" cy="1614265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6172200" y="3810000"/>
            <a:ext cx="5384800" cy="2444750"/>
          </a:xfrm>
          <a:prstGeom prst="roundRect">
            <a:avLst>
              <a:gd name="adj" fmla="val 311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350000" y="3987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말할 수 있나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0" y="41783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Value가 나른다: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네 모델 모두 신뢰구간이 0을 넘지 않는다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Key는 거의 0: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Value의 2~11%다. “0이다”가 아니라 “실용상 무시할 수준”이라 쓴다</a:t>
            </a:r>
          </a:p>
          <a:p>
            <a:pPr marL="762762" indent="-76276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Key+Value &lt; Value: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둘 다 덮으면 오히려 작아진다 — 결합 개입은 상한이 아니다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옮겨지는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같은 이름의 준수판(0.536)과 무관한 camel 이름(0.514)이 거의 같다 — 이름 고유 정보가 아니라 표기 형태가 옮겨진다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06 · STEP3 · RQ2 인과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step3 결과 — 한 층에 몰려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봉우리 값의 절반을 넘는 층이 네 모델 모두 정확히 하나다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06 · STEP3 · RQ2 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427349"/>
            <a:ext cx="2260600" cy="160960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tep3__code_causality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503549"/>
            <a:ext cx="2108200" cy="145720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4036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814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400" y="2427349"/>
            <a:ext cx="2260600" cy="160960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tep3__code_causality_deeps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503549"/>
            <a:ext cx="2108200" cy="145720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722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00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427349"/>
            <a:ext cx="2260600" cy="1609602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step3__code_causality_lla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2503549"/>
            <a:ext cx="2108200" cy="145720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940800" y="1752600"/>
            <a:ext cx="2616200" cy="2768600"/>
          </a:xfrm>
          <a:prstGeom prst="roundRect">
            <a:avLst>
              <a:gd name="adj" fmla="val 291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18600" y="1930400"/>
            <a:ext cx="22606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8600" y="2429505"/>
            <a:ext cx="2260600" cy="160529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step3__code_causality_st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800" y="2505705"/>
            <a:ext cx="2108200" cy="14528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5000" y="4584700"/>
            <a:ext cx="1092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가로축 = 층 · 세로축 = 순효과(처치 − 통제) · 파랑 = Value · 회색 = Key · 음영 = 95% 신뢰구간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000" y="4889500"/>
            <a:ext cx="10922000" cy="1365250"/>
          </a:xfrm>
          <a:prstGeom prst="roundRect">
            <a:avLst>
              <a:gd name="adj" fmla="val 5581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2800" y="50673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국소성의 근거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52578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봉우리 값의 절반 이상인 층이 네 모델 모두 정확히 하나다. 깊이로는 56~71% 지점이다. 층을 고를 때 생길 수 있는 편향을 걷어내려고, 앞 21묶음으로 층을 고르고 뒤 21묶음에서 평가하는 분할검증도 했다 — 네 모델 모두 같은 층을 고른다. 이것이 “후반 특정 층”이라는 주장의 근거다.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 · STEP4·5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step4 — 지침을 얼마나 보나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“덜 봐서 어긴다”가 맞는지부터 확인한다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07 · STEP4·5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설계와 시행착오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조건 336개 = 4모델 × 42묶음 × 지침 방향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안의 표기 지시어를 한 덩어리로 잡아 코드와 견줬다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어긋난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요구 표기어가 규칙문과 후보열거에 두 번 나온다 — 합으로 재면 2배로 부풀려진다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고친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규칙문 지시어와 후보열거를 분리해 따로 잡았다. 해석에는 규칙문만 쓴다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규칙문인가: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실제 명령은 규칙문이다. 후보열거는 두 표기를 대칭으로 나열한 것뿐이다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양방향: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방향을 camel·snake 둘 다 돌렸다 — 이것이 뒤에서 자리 통제 노릇을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결과 — 지침을 훨씬 더 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규칙문 지시어 ÷ 코드 이름, 토큰당. 두 방향 모두 1보다 압도적으로 크다.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184400"/>
            <a:ext cx="13075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7592" y="2184400"/>
            <a:ext cx="80467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2264" y="2184400"/>
            <a:ext cx="10058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방향 = CAMEL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8104" y="2184400"/>
            <a:ext cx="10058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방향 = SNAKE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3944" y="2184400"/>
            <a:ext cx="905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평균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0" y="2438400"/>
            <a:ext cx="114249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7592" y="2438400"/>
            <a:ext cx="63957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2264" y="2438400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11.5배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8104" y="2438400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8.9배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3944" y="2438400"/>
            <a:ext cx="740156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10.2배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27781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000" y="2841625"/>
            <a:ext cx="114249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7592" y="2841625"/>
            <a:ext cx="63957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2264" y="2841625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12.5배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104" y="2841625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6.7배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3944" y="2841625"/>
            <a:ext cx="740156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9.6배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31813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0000" y="3244850"/>
            <a:ext cx="114249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7592" y="3244850"/>
            <a:ext cx="63957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2264" y="3244850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7.2배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8104" y="3244850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5.7배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3944" y="3244850"/>
            <a:ext cx="740156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6.5배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35845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0000" y="3648075"/>
            <a:ext cx="114249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7592" y="3648075"/>
            <a:ext cx="639572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2264" y="3648075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21.2배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8104" y="3648075"/>
            <a:ext cx="84074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19.7배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3944" y="3648075"/>
            <a:ext cx="740156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20.4배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0" y="4152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모델은 지침 지시어를 코드 이름보다 토큰당 6~20배 더 참조하면서도 지침을 어긴다. 어텐션을 키우는 처방은 이미 충족된 조건을 더 채우는 셈이다. 다만 지침은 늘 프롬프트 맨 앞이라 자리 이점을 뒤집어 확인할 수 없다 — 한계로 명시한다.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 · STEP4·5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step4 — 후보열거로는 아무 말도 못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방향을 뒤집으면 부호가 뒤집힌다 — step2와 같은 자리 문제다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07 · STEP4·5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왜 자리 통제가 되나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120900"/>
            <a:ext cx="5029200" cy="82550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7100" y="2209800"/>
            <a:ext cx="4800600" cy="156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Every function name uses one of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100" y="2366328"/>
            <a:ext cx="4800600" cy="156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styles only: camelCase or snake_case.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" y="2522855"/>
            <a:ext cx="4800600" cy="156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↑1번        ↑2번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" y="2679382"/>
            <a:ext cx="4800600" cy="156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336조건 전부 이 순서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0734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단어 순서는 고정인데 어느 쪽이 “목표”인지는 지침 방향이 정한다. 방향 = camel이면 목표가 1번 자리, 방향 = snake면 2번 자리다. 즉 방향을 바꾸면 목표 지시어의 자리가 바뀐다 — step2에서 시드를 뒤집은 것과 같은 장치다.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835400"/>
            <a:ext cx="170992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2728" y="3835400"/>
            <a:ext cx="16596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방향 = CAMEL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2364" y="3835400"/>
            <a:ext cx="16596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방향 = SNAKE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987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4089400"/>
            <a:ext cx="1544828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2728" y="4089400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−0.00199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2364" y="4089400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+0.00270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4529138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4592638"/>
            <a:ext cx="1544828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2728" y="4592638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2364" y="4592638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−0.00055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50323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5095875"/>
            <a:ext cx="1544828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2728" y="5095875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2364" y="5095875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5535612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5599112"/>
            <a:ext cx="1544828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2728" y="5599112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+0.00045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2364" y="5599112"/>
            <a:ext cx="1494536" cy="5032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−0.00046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그래서 어떻게 되나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step2와 달리 재실행이 필요 없었다 — 양방향 336조건이 이미 있었다.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후보열거 비교: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목표 − 위반의 부호가 방향에 따라 뒤집힌다. 두 방향 평균은 거의 0이다</a:t>
            </a:r>
          </a:p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실질 피해 없음: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step4는 애초에 후보열거를 “대칭 나열”이라 해석에 안 쓴다고 못 박아 뒀다</a:t>
            </a:r>
          </a:p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주 지표는 무사: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규칙문 지시어는 역할 기반이고 자리가 안 바뀐다 — 두 방향 모두 6~20배 유지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얻은 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양방향 설계가 우연히 자리 통제 노릇을 했다. step2에는 그 장치가 없었다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 · STEP4·5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step5 — 지침도 같은 통로인가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RQ2에서 쓴 Key/Value 분해를 지침 지시어에 그대로 적용한다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07 · STEP4·5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1905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층에서의 순효과 (처치 − 자기 통제)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7408" y="2184400"/>
            <a:ext cx="116230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봉우리 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9712" y="2184400"/>
            <a:ext cx="84531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깊이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5024" y="2184400"/>
            <a:ext cx="200761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VALUE 순효과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2640" y="2184400"/>
            <a:ext cx="179628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 순효과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8928" y="2184400"/>
            <a:ext cx="63398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2184400"/>
            <a:ext cx="95097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처치 원값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3888" y="2184400"/>
            <a:ext cx="84531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통제(거품)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2438400"/>
            <a:ext cx="21595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7408" y="2438400"/>
            <a:ext cx="99720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9712" y="24384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75.0%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5024" y="2438400"/>
            <a:ext cx="184251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+0.725 ± 0.022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2640" y="2438400"/>
            <a:ext cx="163118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-0.001 ± 0.008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8928" y="2438400"/>
            <a:ext cx="4688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2438400"/>
            <a:ext cx="7858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0.775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33888" y="24384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26416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2705100"/>
            <a:ext cx="21595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7408" y="2705100"/>
            <a:ext cx="99720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9712" y="27051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53.1%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5024" y="2705100"/>
            <a:ext cx="184251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+0.330 ± 0.009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2640" y="2705100"/>
            <a:ext cx="163118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-0.006 ± 0.004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8928" y="2705100"/>
            <a:ext cx="4688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2705100"/>
            <a:ext cx="7858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0.417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3888" y="27051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800" y="29083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2800" y="2971800"/>
            <a:ext cx="21595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7408" y="2971800"/>
            <a:ext cx="99720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9712" y="29718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85.7%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5024" y="2971800"/>
            <a:ext cx="184251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+0.014 ± 0.003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2640" y="2971800"/>
            <a:ext cx="163118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-0.001 ± 0.003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8928" y="2971800"/>
            <a:ext cx="4688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912" y="2971800"/>
            <a:ext cx="7858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33888" y="29718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31750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2800" y="3238500"/>
            <a:ext cx="21595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7408" y="3238500"/>
            <a:ext cx="99720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9712" y="32385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59.4%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45024" y="3238500"/>
            <a:ext cx="184251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+0.793 ± 0.104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2640" y="3238500"/>
            <a:ext cx="163118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-0.008 ± 0.006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48928" y="3238500"/>
            <a:ext cx="46888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82912" y="3238500"/>
            <a:ext cx="78587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3888" y="3238500"/>
            <a:ext cx="6802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0.093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000" y="3810000"/>
            <a:ext cx="5384800" cy="2444750"/>
          </a:xfrm>
          <a:prstGeom prst="roundRect">
            <a:avLst>
              <a:gd name="adj" fmla="val 311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12800" y="3987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층별 순효과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파랑 = Value 순효과 · 회색 = Key 순효과. 통제도 전 층에서 돌렸다.</a:t>
            </a:r>
          </a:p>
        </p:txBody>
      </p:sp>
      <p:pic>
        <p:nvPicPr>
          <p:cNvPr id="57" name="Picture 56" descr="net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06" y="4178300"/>
            <a:ext cx="1717188" cy="1614265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172200" y="3810000"/>
            <a:ext cx="5384800" cy="2444750"/>
          </a:xfrm>
          <a:prstGeom prst="roundRect">
            <a:avLst>
              <a:gd name="adj" fmla="val 3116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350000" y="39878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RQ3의 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0000" y="41783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같은 통로다: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지침의 영향력도 Key가 아니라 Value에 실린다. 네 모델 모두 Key 순효과가 0 근처</a:t>
            </a:r>
          </a:p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처치 = 반대 지침: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지침이 요구한 표기어 자리에 반대 표기어의 값을 덮는다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통제 = 같은 지시어: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같은 단어를 자기 자신으로 덮는다 — 덮어쓰기 자체의 교란만 남는다</a:t>
            </a:r>
          </a:p>
          <a:p>
            <a:pPr marL="589407" indent="-58940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Llama는 n이 작다: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84조건 중 29개만 남았다 — 나머지는 지침이 애초에 행동을 못 흔든 판정 불가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07 · STEP4·5 ·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RQ2 · RQ3 답을 나란히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코드 신호와 지침 영향력이 같은 통로, 비슷한 깊이에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07 · STEP4·5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159000"/>
          </a:xfrm>
          <a:prstGeom prst="roundRect">
            <a:avLst>
              <a:gd name="adj" fmla="val 3529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스텝의 순효과를 같은 자로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7408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STEP3 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6704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STEP3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STEP3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3968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STEP5 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3264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STEP5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22560" y="2184400"/>
            <a:ext cx="105664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STEP5 KEY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215950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7408" y="24384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L25 (69%)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6704" y="24384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+0.253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24384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3968" y="24384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L27 (75.0%)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3264" y="24384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+0.725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22560" y="2438400"/>
            <a:ext cx="89154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7051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2768600"/>
            <a:ext cx="215950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7408" y="27686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L20 (62%)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6704" y="27686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0" y="27686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3968" y="27686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L17 (53.1%)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3264" y="27686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+0.330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22560" y="2768600"/>
            <a:ext cx="89154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30353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3098800"/>
            <a:ext cx="215950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7408" y="30988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L15 (54%)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6704" y="30988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+0.358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0" y="30988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3968" y="30988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L24 (85.7%)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3264" y="30988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22560" y="3098800"/>
            <a:ext cx="89154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800" y="33655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800" y="3429000"/>
            <a:ext cx="215950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37408" y="34290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L18 (56%)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6704" y="34290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0" y="3429000"/>
            <a:ext cx="1102868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3968" y="34290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L19 (59.4%)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43264" y="3429000"/>
            <a:ext cx="1314196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+0.793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22560" y="3429000"/>
            <a:ext cx="89154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-0.008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000" y="4064000"/>
            <a:ext cx="10922000" cy="2190750"/>
          </a:xfrm>
          <a:prstGeom prst="roundRect">
            <a:avLst>
              <a:gd name="adj" fmla="val 3478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2800" y="4241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읽는 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800" y="4432300"/>
            <a:ext cx="10566400" cy="516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두 스텝 모두 Value 순효과는 0에서 뚜렷이 떨어져 있고 Key 순효과는 0 근처다. 층 깊이도 비슷한 구간에 온다. 코드가 지침을 이기는 싸움이 어텐션에서 벌어지는 것이 아니라 내용 통로에서 벌어진다는 뜻이다. 다만 절대값은 두 스텝에서 자가 다르므로(공여와 통제가 다르다) 크기끼리 직접 견주지 않는다.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08 · 장치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장치 검사 — 우리 결론이 방법의 산물인가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“Key는 안 되고 Value는 된다”가 덮어쓰기 방식 때문일 수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08 · 장치 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의심의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RoPE: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캐시의 Key에는 그 토큰이 있던 위치의 회전 위상이 박혀 있다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평균의 부작용: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위상이 다른 회전 벡터를 평균하면 상쇄 간섭이 일어나 크기가 준다</a:t>
            </a:r>
          </a:p>
          <a:p>
            <a:pPr marL="485394" indent="-485394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Value는 무사: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Value에는 RoPE가 적용되지 않는다 — 이 문제가 없다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그래서 위험: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Key가 안 되는 것이 “원래 무력해서”인지 “우리가 망가뜨려서”인지 못 가른다</a:t>
            </a:r>
          </a:p>
          <a:p>
            <a:pPr marL="589407" indent="-58940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우리 주장이 바로 그것: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결론이 방법의 산물일 위험이 직결된다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쟀나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점수를 매기지 않는 가벼운 진단이다. 조건 72개.</a:t>
            </a:r>
          </a:p>
        </p:txBody>
      </p:sp>
      <p:pic>
        <p:nvPicPr>
          <p:cNvPr id="14" name="Picture 13" descr="eq_shr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159000"/>
            <a:ext cx="2062872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0000" y="25400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ρ  보존율 — 1이면 안 깎임   k̃·ṽ  덮어넣은 값   k·v  원래 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27432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덮어넣은 값의 크기를 원래 값의 크기로 나눈다. 1에 가까우면 안 망가진 것이고, 뚜렷이 작으면 그만큼 깎인 것이다. Key와 Value 각각에 대해 재서 견준다.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3429000"/>
            <a:ext cx="140817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176" y="34290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 보존율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5184" y="34290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VALUE 보존율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2192" y="34290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KEY −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35814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0" y="3683000"/>
            <a:ext cx="1243076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8176" y="3683000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5184" y="3683000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2192" y="3683000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+0.092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415324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000" y="4216741"/>
            <a:ext cx="1243076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8176" y="4216741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5184" y="4216741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0.787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2192" y="4216741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+0.162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68698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0000" y="4750483"/>
            <a:ext cx="1243076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8176" y="4750483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5184" y="4750483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2192" y="4750483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220724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0000" y="5284224"/>
            <a:ext cx="1243076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58176" y="5284224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5184" y="5284224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2192" y="5284224"/>
            <a:ext cx="1041908" cy="533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08 · 장치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장치 검사 결과 — 걱정한 방향과 반대다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Key가 Value보다 오히려 덜 깎인다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08 · 장치 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7493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7137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덮어쓰기 후 보존율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7137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세로축 = 덮어넣은 값의 크기 ÷ 원래 값의 크기. 1이면 안 깎인 것.</a:t>
            </a:r>
          </a:p>
        </p:txBody>
      </p:sp>
      <p:pic>
        <p:nvPicPr>
          <p:cNvPr id="11" name="Picture 10" descr="kv_phase_shr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427290"/>
            <a:ext cx="7137400" cy="30588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80400" y="1752600"/>
            <a:ext cx="3276600" cy="4502150"/>
          </a:xfrm>
          <a:prstGeom prst="roundRect">
            <a:avLst>
              <a:gd name="adj" fmla="val 2325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30400"/>
            <a:ext cx="2921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무슨 뜻인가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0900"/>
            <a:ext cx="29210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예상: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Key가 위상 상쇄로 더 깎여 불리할 것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Key 보존율 0.95 안팎, Value는 0.79~0.87 — Key가 오히려 덜 깎인다</a:t>
            </a:r>
          </a:p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그래서: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“Key가 안 되는 것은 우리가 Key를 망가뜨려서”라는 반박이 성립하지 않는다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남는 한계: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그래도 post-RoPE 캐시 평균 덮어쓰기라는 규격 안의 결과다. native Key 경로 자체에 대한 주장은 아니다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— 발견대로 밀면 되살아나는가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 장은 새 실험이 아니라 앞선 발견의 예측을 검증하는 장이다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출발점은 절벽 바닥 — 위반 12/12, 준수율 0.000.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예측 ①: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그 층 부근의 표현을 밀면 준수가 되살아나야 한다</a:t>
            </a:r>
          </a:p>
          <a:p>
            <a:pPr marL="312039" indent="-312039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예측 ②: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지침 구간의 어텐션을 키우는 것은 효과가 없어야 한다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공정한 대결: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Spotlight의 스팬은 step5에서 값을 바꾼 자리와 정확히 같게 잡는다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두 번 잰다: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선호 점수만 보지 않는다. 조향을 건 채 실제로 이름을 생성시켜 다시 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처방의 수식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1209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우리 — 잔차 스트림 조향</a:t>
            </a:r>
          </a:p>
        </p:txBody>
      </p:sp>
      <p:pic>
        <p:nvPicPr>
          <p:cNvPr id="15" name="Picture 14" descr="eq_ste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286000"/>
            <a:ext cx="3553434" cy="317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0000" y="26416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h⁺  camel 이름 토큰   h⁻  snake 이름 토큰   α  조향 세기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28321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camel 이름 토큰과 snake 이름 토큰의 hidden state 평균을 빼서 방향을 만들고, 그 층 출력에 세기 α배로 더한다. 세기는 1 · 2 · 4 · 8을 돌렸다. 어텐션은 건드리지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3497075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기존 — SPOTLIGHT 재구현</a:t>
            </a:r>
          </a:p>
        </p:txBody>
      </p:sp>
      <p:pic>
        <p:nvPicPr>
          <p:cNvPr id="19" name="Picture 18" descr="eq_sp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3662175"/>
            <a:ext cx="1703421" cy="406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0000" y="4106675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ψ  개입 전 비중   ψ*  목표 비중   S  지침 스팬   p  어텐션 한 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4309875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스팬의 어텐션 비중이 목표치 ψ에 못 미치면, 스팬에 배율을 곱하고 다시 정규화한다. 재정규화 때문에 목표에 정확히 도달하지 않는 것이 정상이다(원문 식 5). ψ는 0.1 · 0.3.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— Spotlight는 실제로 걸렸다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“구현을 못해서 진 것”이라는 반박을 먼저 막는다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개입 전 → 후 어텐션 비중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규칙문 지시어 스팬, ψ 목표 0.3. 16개 조건 전부 상승했다.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140817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0976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개입 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7984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개입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4992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배율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2438400"/>
            <a:ext cx="1243076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0976" y="2438400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7984" y="2438400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0.231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4992" y="2438400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115배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321979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800" y="3283291"/>
            <a:ext cx="1243076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0976" y="3283291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7984" y="3283291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4992" y="3283291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230배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064683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128183"/>
            <a:ext cx="1243076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0976" y="4128183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7984" y="4128183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0.231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4992" y="4128183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231배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800" y="4909574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800" y="4973074"/>
            <a:ext cx="1243076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20976" y="4973074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7984" y="4973074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0.231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4992" y="4973074"/>
            <a:ext cx="1041908" cy="844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115배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재구현에서 조용히 틀리기 쉬운 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 가지 모두 막아 두었다 — 막지 않으면 “효과 없음”이 거짓으로 나온다.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0" y="2120900"/>
            <a:ext cx="50292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50723" indent="-450723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① 인과 마스크: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최신 transformers는 어텐션 함수에 마스크를 넘기지 않는다(내부 처리). 그대로 재계산하면 미래 토큰까지 보게 되어 모델이 망가진 채 측정된다 → 직접 씌운다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② 주입 확인: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어텐션 함수가 실제로 불렸는지 센다. 0이면 예외 — “개입했는데 효과 없음”과 “개입이 안 걸림”이 같은 숫자로 남으면 안 된다</a:t>
            </a:r>
          </a:p>
          <a:p>
            <a:pPr marL="416052" indent="-41605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③ 전후 기록: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ψ를 개입 전·후 모두 남긴다. 실제로 올랐음을 보여야 반박을 막는다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시행착오 — “성공”이 가짜였다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표기만 보면 camelCase를 그대로 베낀 것이 준수로 세어진다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어긋났나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20900"/>
            <a:ext cx="5029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처음: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생성된 이름이 camel인지 snake인지 정규식으로 판정했다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이상한 결과: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Spotlight를 규칙문 지시어에 세게 걸었더니 Llama가 갑자기 준수율 1.00이 나왔다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실제 생성물: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def camelCase(...) — 어텐션을 몰아준 그 단어를 그대로 베껴 쓴 것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통과했나: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정규식상 camel이 맞다. 이름 형식·길이·반복 검사도 전부 정상이다</a:t>
            </a:r>
          </a:p>
          <a:p>
            <a:pPr marL="242697" indent="-242697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규모: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Llama 21개 중 17개, DeepSeek 21개 중 8개가 이런 이름이었다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고친 것 — 과제도 맞아야 준수다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이 판정 없이는 Spotlight의 “성공”이 전부 베끼기다.</a:t>
            </a:r>
          </a:p>
        </p:txBody>
      </p:sp>
      <p:pic>
        <p:nvPicPr>
          <p:cNvPr id="14" name="Picture 13" descr="eq_comp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159000"/>
            <a:ext cx="2430130" cy="279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0000" y="2476500"/>
            <a:ext cx="5029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c  진짜 준수   n  표기가 맞으면 1   t  과제가 맞으면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2705100"/>
            <a:ext cx="5029200" cy="82550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64300" y="2794000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TASK_WORDS = ('remove', 'duplicat',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300" y="2922905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'dedup', 'uniq', 'distinct')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300" y="3051810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def on_task(name):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300" y="3180715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return any(w in name.lower()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300" y="3309620"/>
            <a:ext cx="4800600" cy="128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              for w in TASK_WORDS)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3657600"/>
            <a:ext cx="5029200" cy="910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요청은 “중복을 제거하는 함수를 추가하라”였다. 그러니 이름에 과제를 가리키는 말이 들어 있어야 한다. 표기 판정과 과제 판정을 곱해야 진짜 준수다. 이 판정을 넣자 값 조향의 수치도 함께 깎였다 — DeepSeek 세기2가 0.952에서 0.524로 내려가면서 최적 세기가 2가 아니라 1로 바뀌었다.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결과 — 값을 밀면 되고 어텐션은 안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선호 점수와 실제 준수율을 반드시 나란히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254000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두 지표를 나란히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906615"/>
            <a:ext cx="10566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실제 준수율은 조향을 건 채 생성시킨 21개 이름을 센 것이다(표기 맞음 × 과제 맞음).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7408" y="2184400"/>
            <a:ext cx="15849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 · 값 조향 최고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368" y="2184400"/>
            <a:ext cx="15849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 · SPOTLIGHT 최고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7328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준수율 · 무개입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5296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준수율 · 값 조향 최적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9904" y="2184400"/>
            <a:ext cx="147929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준수율 · SPOTLIGHT 최고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2438400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Qwen2.5-Coder-3B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7408" y="2438400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1.729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2368" y="2438400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328" y="2438400"/>
            <a:ext cx="110286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5296" y="2438400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  (세기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9904" y="2438400"/>
            <a:ext cx="1314196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2729254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2792754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DeepSeek-Coder-6.7B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7408" y="2792754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3.494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2368" y="2792754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-0.112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7328" y="2792754"/>
            <a:ext cx="110286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5296" y="2792754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0.810  (세기 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9904" y="2792754"/>
            <a:ext cx="1314196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3083608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" y="3147108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Llama-3.2-3B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7408" y="3147108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1.357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2368" y="3147108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+0.491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7328" y="3147108"/>
            <a:ext cx="110286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5296" y="3147108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  (세기 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9904" y="3147108"/>
            <a:ext cx="1314196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0.190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43796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800" y="3501461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StableCode-3B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7408" y="3501461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3.318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2368" y="3501461"/>
            <a:ext cx="1419860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+0.156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7328" y="3501461"/>
            <a:ext cx="110286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5296" y="3501461"/>
            <a:ext cx="2159508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0.095  (세기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9904" y="3501461"/>
            <a:ext cx="1314196" cy="35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000" y="4445000"/>
            <a:ext cx="10922000" cy="1809750"/>
          </a:xfrm>
          <a:prstGeom prst="roundRect">
            <a:avLst>
              <a:gd name="adj" fmla="val 4210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2800" y="46228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붙여야 할 단서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800" y="4876800"/>
            <a:ext cx="274726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주장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0064" y="4876800"/>
            <a:ext cx="316992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근거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4" y="4876800"/>
            <a:ext cx="464921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⚠️ 범위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" y="50292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2800" y="5130800"/>
            <a:ext cx="258216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어텐션을 키워도 준수는 안 돌아온다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0064" y="5130800"/>
            <a:ext cx="300482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4모델 중 3모델이 정확히 0.000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9984" y="5130800"/>
            <a:ext cx="4484116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Llama만 0.190 — 그마저 과제 맞음도 0.190이라 이름을 깨뜨리며 얻은 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800" y="5553075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2800" y="5616575"/>
            <a:ext cx="258216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값을 밀면 되살아난다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0064" y="5616575"/>
            <a:ext cx="300482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Qwen 1.000 · Llama 1.000 · DeepSeek 0.810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9984" y="5616575"/>
            <a:ext cx="4484116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StableCode는 0.095로 실패한다 — “3/4 모델에서”로 쓴다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— 용량-반응이 인과의 증거다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세기를 올리면 snake가 사라지고 다시 나오지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7493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7137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세기별 실제 생성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868765"/>
            <a:ext cx="71374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가로축 = 조향 세기 · 세로축 = 생성된 이름의 표기 구성비</a:t>
            </a:r>
          </a:p>
        </p:txBody>
      </p:sp>
      <p:pic>
        <p:nvPicPr>
          <p:cNvPr id="11" name="Picture 10" descr="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536401"/>
            <a:ext cx="7137400" cy="28406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80400" y="1752600"/>
            <a:ext cx="3276600" cy="4502150"/>
          </a:xfrm>
          <a:prstGeom prst="roundRect">
            <a:avLst>
              <a:gd name="adj" fmla="val 2325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8200" y="1930400"/>
            <a:ext cx="2921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읽는 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20900"/>
            <a:ext cx="2921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368" indent="-27736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무개입: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네 모델 모두 snake 100% — 절벽 바닥이다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세기 1~2: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snake가 0.00으로 사라지고 camel이 그 자리를 채운다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세기 4~8: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camel도 무너지고 “그 외”가 늘어난다 — 이름 자체가 깨진다</a:t>
            </a:r>
          </a:p>
          <a:p>
            <a:pPr marL="381381" indent="-381381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왜 인과인가: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세기를 올릴수록 단조롭게 변하고, 한번 사라진 snake가 다시 나오지 않는다</a:t>
            </a:r>
          </a:p>
          <a:p>
            <a:pPr marL="346710" indent="-346710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창이 좁다: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작동 구간은 세기 1~2다. 그 위는 과하다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09 · STEP6 ·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step6 — 점수 회복은 준수율이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 어긋남이 세 방향에서 나타난다 — 방법론적 기여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09 · STEP6 · 처방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① 같은 모델 안에서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80467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QWEN 세기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7472" y="21844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 회복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3896" y="2184400"/>
            <a:ext cx="11064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실제 준수율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0320" y="2184400"/>
            <a:ext cx="20116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나온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2438400"/>
            <a:ext cx="63957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7472" y="2438400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1.243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3896" y="2438400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0320" y="2438400"/>
            <a:ext cx="184658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removeDuplicates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27463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2809875"/>
            <a:ext cx="63957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7472" y="2809875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1.643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3896" y="2809875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0320" y="2809875"/>
            <a:ext cx="184658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removeDuplicates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31178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3181350"/>
            <a:ext cx="63957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7472" y="3181350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1.733  ← 최고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3896" y="3181350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  ← 바닥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0320" y="3181350"/>
            <a:ext cx="184658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RemoveDuplicates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34893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3552825"/>
            <a:ext cx="63957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7472" y="3552825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1.612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3896" y="3552825"/>
            <a:ext cx="94132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0320" y="3552825"/>
            <a:ext cx="184658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이름이 깨진다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40259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선호 점수는 위가 막혀 있지 않다. 세게 밀수록 계속 오르지만 그 지점에서 모델은 이미 다른 표기로 넘어가 있다. 회복률이 1을 넘는 구간은 되살아난 것이 아니라 지나친 것이다.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" y="46609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③ SPOTLIGHT 에서도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" y="4813300"/>
            <a:ext cx="5029200" cy="47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Llama의 점수 회복 0.904가 실제 준수율 0.190이다. 그 0.190조차 과제 맞음이 0.190이라 표기를 맞춘 것이 아니라 이름을 깨뜨린 결과다.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② 모델 사이에서 — 점수 1위가 준수 꼴찌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생성 검증 없이 점수만 보고했다면 StableCode를 최고 성능으로 보고했을 것이다.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0" y="2184400"/>
            <a:ext cx="15087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모델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8760" y="2184400"/>
            <a:ext cx="15087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점수 (세기2)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7520" y="2184400"/>
            <a:ext cx="201168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실제 준수율 (최적 세기)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00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000" y="243840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StableCode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8760" y="243840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2.006  ← 1위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7520" y="2438400"/>
            <a:ext cx="184658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0.095  ← 꼴찌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0000" y="277812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0000" y="284162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DeepSeek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58760" y="284162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1.920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7520" y="2841625"/>
            <a:ext cx="184658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0.810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0000" y="318135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0000" y="324485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Qwen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58760" y="3244850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1.643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7520" y="3244850"/>
            <a:ext cx="184658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0000" y="35845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0000" y="364807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Llama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58760" y="3648075"/>
            <a:ext cx="134366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1.385  ← 꼴찌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7520" y="3648075"/>
            <a:ext cx="1846580" cy="403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1.000  ← 1위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0000" y="4152900"/>
            <a:ext cx="5029200" cy="910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36개 조건을 짝지어 보면 전체 상관은 +0.39지만, 어느 회복률 구간에서도 준수율이 0부터 1까지 흩어진다. 가장 날카로운 대비는 DeepSeek 세기1(회복률 0.462 → 준수율 0.810)과 StableCode 세기1(회복률 0.433 → 준수율 0.000)이다 — 거의 같은 회복률에서 준수율이 정반대다.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우리는 우리 수치를 세 번 깎았다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이것이 이 논문의 방법론적 정체성이다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10 ·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세 번의 깎기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16906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어디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3424" y="2184400"/>
            <a:ext cx="285292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의심했나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6352" y="2184400"/>
            <a:ext cx="295859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무엇을 했나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4944" y="2184400"/>
            <a:ext cx="306425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무엇이 깎였나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2438400"/>
            <a:ext cx="1525524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통제와 순효과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3424" y="2438400"/>
            <a:ext cx="2687828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덮어쓰기는 정보를 넣는 동시에 원래 것을 지운다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6352" y="2438400"/>
            <a:ext cx="2793492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표기 정보가 없는 통제를 함께 돌려 뺐다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944" y="2438400"/>
            <a:ext cx="2899156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step3 되돌림률의 약 절반이 거품이었다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529516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3593016"/>
            <a:ext cx="1525524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자리 통제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424" y="3593016"/>
            <a:ext cx="2687828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배치 하나로 잰 어텐션 격차를 믿어도 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6352" y="3593016"/>
            <a:ext cx="2793492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배치를 정확히 뒤집은 여집합 시드로 다시 쟀다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4944" y="3593016"/>
            <a:ext cx="2899156" cy="115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step2의 주요 결론이 통째로 철회됐다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4684133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4747633"/>
            <a:ext cx="1525524" cy="1354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생성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3424" y="4747633"/>
            <a:ext cx="2687828" cy="1354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선호 점수가 오른 것이 곧 행동이 바뀐 것인가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6352" y="4747633"/>
            <a:ext cx="2793492" cy="1354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조향을 건 채 실제 이름을 생성시켜 과제까지 판정했다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944" y="4747633"/>
            <a:ext cx="2899156" cy="1354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Spotlight의 “성공”이 전부 베끼기였다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논문에 못 쓰는 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고정한 축이 곧 한계다 — 미리 적어 두고 지킨다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10 ·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고정한 것 → 못 하는 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11226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고정한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064" y="2184400"/>
            <a:ext cx="29169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못 하는 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2438400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파이썬만 (JS 결과 0개)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5064" y="2438400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언어 무관하게 성립한다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832894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2896394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step2·3은 camel 지침만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064" y="2896394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위반이라서인지 snake라서인지 가른다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3290888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3354388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자리 통제는 코드 구간·시드 2개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5064" y="3354388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전 구간을 통제했다 · 배치 일반화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74888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3812381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지침이 늘 프롬프트 맨 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5064" y="3812381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지침 vs 코드의 자리 이점을 배제했다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42068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4270375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이름 한 쌍으로 채점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5064" y="4270375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다른 이름쌍으로도 성립한다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4664869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4728369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범용 모델 1개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5064" y="4728369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모델 종류 전반에 성립한다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800" y="5122862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800" y="5186362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‖a·v‖는 상한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5064" y="5186362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실제 기여량이다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5580856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5644356"/>
            <a:ext cx="194716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post-RoPE 캐시 평균 덮어쓰기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5064" y="5644356"/>
            <a:ext cx="27518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native Key 경로가 무력하다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특히 조심할 두 문장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둘 다 우리 결과가 스스로 반례를 갖고 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0" y="21209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쓰면 안 되는 문장 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0" y="2286000"/>
            <a:ext cx="5029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“어텐션은 무익하다”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0" y="26035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범용 모델 Llama에서 Spotlight의 점수 회복은 0.904로 높다. 실제 준수율은 0.190이고 그마저 이름을 깨뜨리며 얻은 값이지만, 4모델 중 유일하게 0이 아니다. “코드 특화 모델에서”라는 범위를 서론부터 붙인다.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0" y="34544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쓰면 안 되는 문장 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0" y="3619500"/>
            <a:ext cx="5029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“값 조향은 언제나 통한다”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0" y="3937000"/>
            <a:ext cx="5029200" cy="692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StableCode에서는 실제 준수율 0.095로 실패한다 — 점수는 2.006으로 4모델 중 1위인데도 그렇다. “3/4 모델에서”로 쓴다. 이 반례는 숨기지 않는다. 오히려 “점수 ≠ 준수율”의 가장 강한 사례다.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논문 골격 — 7장 · 6쪽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5장이 심장이고, 6장은 5장의 예측을 검증하는 장이다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10 ·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장별 배분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402336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5136" y="2184400"/>
            <a:ext cx="261518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제목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0320" y="2184400"/>
            <a:ext cx="80467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4992" y="2184400"/>
            <a:ext cx="12070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그림·표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" y="2336800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2438400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5136" y="2438400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서론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0320" y="2438400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4992" y="2438400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2832894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2896394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5136" y="2896394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관련 연구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0320" y="2896394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4992" y="2896394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3290888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800" y="3354388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5136" y="3354388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실험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30320" y="3354388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4992" y="3354388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3748881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3812381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5136" y="3812381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행동 — 준수율 절벽 (RQ1)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30320" y="3812381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4992" y="3812381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4206875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800" y="4270375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5136" y="4270375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신호는 어디에 있는가 (RQ2·RQ3)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30320" y="4270375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4992" y="4270375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그림2·3, 표2·3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800" y="4664869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800" y="4728369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5136" y="4728369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처방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30320" y="4728369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1.05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4992" y="4728369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그림4, 표4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800" y="5122862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2800" y="5186362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5136" y="5186362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논의·한계·결론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0320" y="5186362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0.35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34992" y="5186362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2800" y="5580856"/>
            <a:ext cx="50292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2800" y="5644356"/>
            <a:ext cx="237236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5136" y="5644356"/>
            <a:ext cx="2450084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제목·요약 0.35 + 참고문헌 0.60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30320" y="5644356"/>
            <a:ext cx="639572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6.00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4992" y="5644356"/>
            <a:ext cx="1041908" cy="457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그림4·표4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1752600"/>
            <a:ext cx="53848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350000" y="1930400"/>
            <a:ext cx="50292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5장 구성 — 관측 실패 → 인과 성공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0000" y="5868765"/>
            <a:ext cx="5029200" cy="20818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5.1과 5.2가 같은 모양이다. 그 공통점을 5.3에서 하나로 묶는다.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0000" y="2120900"/>
            <a:ext cx="5029200" cy="123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624078" indent="-624078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5.1 코드의 표기 신호: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RQ2 — 관측은 못 찾는다 → 인과가 찾는다(Value, 후반 한 층)</a:t>
            </a:r>
          </a:p>
          <a:p>
            <a:pPr marL="554736" indent="-554736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5.2 지침의 영향력: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RQ3 — 같은 통로인가 → 맞다</a:t>
            </a:r>
          </a:p>
          <a:p>
            <a:pPr marL="762762" indent="-762762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5.3 왜 관측으로는 못 찾았나: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자리 교란. 두 RQ에 공통이라 여기서 묶는다</a:t>
            </a:r>
          </a:p>
          <a:p>
            <a:pPr marL="520065" indent="-520065">
              <a:lnSpc>
                <a:spcPct val="134000"/>
              </a:lnSpc>
              <a:spcAft>
                <a:spcPts val="594"/>
              </a:spcAft>
            </a:pPr>
            <a:r>
              <a:rPr sz="1050" b="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—  </a:t>
            </a:r>
            <a:r>
              <a:rPr sz="1050" b="1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5.4 측정 타당성:</a:t>
            </a: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 장치 검사와 측정 결정성 — 리뷰어 방어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0000" y="3962400"/>
            <a:ext cx="50800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기여 4가지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0000" y="4127500"/>
            <a:ext cx="5029200" cy="910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C1 문맥 위반이 준수율을 무너뜨리며 완만한 하락이 아니라 임계다 · C2 신호는 Key가 아니라 Value, 후반 단일 층에 국소화된다 · C2′ 그 신호는 어텐션 관측으로는 안 잡힌다 — 고정 배치의 함정 · C3 잔차 조향은 되고 어텐션 증폭은 안 되며, 점수 회복이 준수율을 대변하지 않는다.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393700"/>
            <a:ext cx="10922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14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10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609600"/>
            <a:ext cx="1092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spc="-5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남은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spc="-2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본문 집필에 들어가기 전에 정리해야 할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524000"/>
            <a:ext cx="109220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6540500"/>
            <a:ext cx="6553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표기 규약 준수 실패의 층위별 인과 분석  ·  10 ·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8200" y="6540500"/>
            <a:ext cx="436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10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" y="1752600"/>
            <a:ext cx="10922000" cy="4502150"/>
          </a:xfrm>
          <a:prstGeom prst="roundRect">
            <a:avLst>
              <a:gd name="adj" fmla="val 1692"/>
            </a:avLst>
          </a:prstGeom>
          <a:solidFill>
            <a:srgbClr val="FAFAFA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800" y="1930400"/>
            <a:ext cx="10566400" cy="1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해야 할 일과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84400"/>
            <a:ext cx="232460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할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7408" y="2184400"/>
            <a:ext cx="1267968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376" y="2184400"/>
            <a:ext cx="6973824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10">
                <a:solidFill>
                  <a:srgbClr val="6B6B6B"/>
                </a:solidFill>
                <a:latin typeface="NanumGothic"/>
                <a:cs typeface="NanumGothic"/>
                <a:ea typeface="NanumGothic"/>
              </a:rPr>
              <a:t>메모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33680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2438400"/>
            <a:ext cx="2159508" cy="89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참고문헌 정리 (refer.bib)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7408" y="2438400"/>
            <a:ext cx="1102868" cy="89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미착수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376" y="2438400"/>
            <a:ext cx="6808724" cy="89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저장소에 기록된 것은 CAA(ACL 2024)·ITI(NeurIPS 2023)·Spotlight(arXiv:2505.12025) 셋뿐이다. activation patching 원전과 모델 4종 리포트가 더 필요하다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326777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3331271"/>
            <a:ext cx="215950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인용 서지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7408" y="3331271"/>
            <a:ext cx="110286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5376" y="3331271"/>
            <a:ext cx="6808724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저자·제목·쪽수는 실제 논문을 열어 확인해야 한다. 기억으로 채우면 안 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960541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4024041"/>
            <a:ext cx="215950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그림 4장 최종본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7408" y="4024041"/>
            <a:ext cx="110286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부분 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5376" y="4024041"/>
            <a:ext cx="6808724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그림1(절벽)·그림3(자리 통제)·그림4(세기 곡선)는 있다. 그림2(층별 순효과)는 모델 2개로 재작도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65331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" y="4716810"/>
            <a:ext cx="215950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표 4개 확정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7408" y="4716810"/>
            <a:ext cx="110286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부분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5376" y="4716810"/>
            <a:ext cx="6808724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표1(조건 축)·표4(처방)는 확정. 표2·3은 5장 집필하며 확정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5346080"/>
            <a:ext cx="10566400" cy="762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5409580"/>
            <a:ext cx="215950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A0A0A"/>
                </a:solidFill>
                <a:latin typeface="NanumGothic"/>
                <a:cs typeface="NanumGothic"/>
                <a:ea typeface="NanumGothic"/>
              </a:rPr>
              <a:t>집필 순서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7408" y="5409580"/>
            <a:ext cx="1102868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권장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5376" y="5409580"/>
            <a:ext cx="6808724" cy="692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E2E2E"/>
                </a:solidFill>
                <a:latin typeface="NanumGothic"/>
                <a:cs typeface="NanumGothic"/>
                <a:ea typeface="NanumGothic"/>
              </a:rPr>
              <a:t>3장 → 5장 → 6장 → 4장 → 7장 → 1·2장. 정의를 먼저 고정해야 나머지가 안 흔들린다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